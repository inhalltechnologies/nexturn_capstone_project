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E41A33D3-2C3D-A1C4-89FE-17A281904E84}">
          <p14:sldIdLst>
            <p14:sldId id="256"/>
            <p14:sldId id="257"/>
            <p14:sldId id="258"/>
          </p14:sldIdLst>
        </p14:section>
        <p14:section name="Workflow and design" id="{E5EA908D-EDBB-E004-6905-73E419B91858}">
          <p14:sldIdLst>
            <p14:sldId id="259"/>
            <p14:sldId id="260"/>
            <p14:sldId id="261"/>
          </p14:sldIdLst>
        </p14:section>
        <p14:section name="Quality" id="{B439AD69-DC2A-5A01-A9E1-E323C017EE11}">
          <p14:sldIdLst>
            <p14:sldId id="262"/>
          </p14:sldIdLst>
        </p14:section>
        <p14:section name="Delivery" id="{AC85F873-B45B-25C5-00E5-DE19544513CE}">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72033"/>
                </a:solidFill>
                <a:latin typeface="+mn-lt"/>
              </a:defRPr>
            </a:pPr>
            <a:r>
              <a:rPr sz="1200" b="0" i="0" u="none" strike="noStrike">
                <a:solidFill>
                  <a:srgbClr val="172033"/>
                </a:solidFill>
                <a:latin typeface="+mn-lt"/>
              </a:rPr>
              <a:t>Example: movements for one product</a:t>
            </a:r>
          </a:p>
        </c:rich>
      </c:tx>
      <c:overlay val="0"/>
    </c:title>
    <c:autoTitleDeleted val="0"/>
    <c:plotArea>
      <c:layout/>
      <c:barChart>
        <c:barDir val="col"/>
        <c:grouping val="clustered"/>
        <c:varyColors val="0"/>
        <c:ser>
          <c:idx val="0"/>
          <c:order val="0"/>
          <c:tx>
            <c:strRef>
              <c:f>Sheet1!$B$1</c:f>
              <c:strCache>
                <c:ptCount val="1"/>
                <c:pt idx="0">
                  <c:v>Quantity</c:v>
                </c:pt>
              </c:strCache>
            </c:strRef>
          </c:tx>
          <c:spPr>
            <a:solidFill>
              <a:srgbClr val="1F9D8A"/>
            </a:solidFill>
            <a:effectLst/>
          </c:spPr>
          <c:invertIfNegative val="0"/>
          <c:dPt>
            <c:idx val="0"/>
            <c:invertIfNegative val="0"/>
            <c:bubble3D val="0"/>
            <c:extLst>
              <c:ext xmlns:c16="http://schemas.microsoft.com/office/drawing/2014/chart" uri="{C3380CC4-5D6E-409C-BE32-E72D297353CC}">
                <c16:uniqueId val="{00000001-8D47-4433-A3F2-44673F9EC32C}"/>
              </c:ext>
            </c:extLst>
          </c:dPt>
          <c:dPt>
            <c:idx val="1"/>
            <c:invertIfNegative val="0"/>
            <c:bubble3D val="0"/>
            <c:extLst>
              <c:ext xmlns:c16="http://schemas.microsoft.com/office/drawing/2014/chart" uri="{C3380CC4-5D6E-409C-BE32-E72D297353CC}">
                <c16:uniqueId val="{00000003-8D47-4433-A3F2-44673F9EC32C}"/>
              </c:ext>
            </c:extLst>
          </c:dPt>
          <c:dPt>
            <c:idx val="2"/>
            <c:invertIfNegative val="0"/>
            <c:bubble3D val="0"/>
            <c:spPr>
              <a:solidFill>
                <a:srgbClr val="C8553D"/>
              </a:solidFill>
              <a:effectLst/>
            </c:spPr>
            <c:extLst>
              <c:ext xmlns:c16="http://schemas.microsoft.com/office/drawing/2014/chart" uri="{C3380CC4-5D6E-409C-BE32-E72D297353CC}">
                <c16:uniqueId val="{00000005-8D47-4433-A3F2-44673F9EC32C}"/>
              </c:ext>
            </c:extLst>
          </c:dPt>
          <c:dPt>
            <c:idx val="3"/>
            <c:invertIfNegative val="0"/>
            <c:bubble3D val="0"/>
            <c:spPr>
              <a:solidFill>
                <a:srgbClr val="C8553D"/>
              </a:solidFill>
              <a:effectLst/>
            </c:spPr>
            <c:extLst>
              <c:ext xmlns:c16="http://schemas.microsoft.com/office/drawing/2014/chart" uri="{C3380CC4-5D6E-409C-BE32-E72D297353CC}">
                <c16:uniqueId val="{00000007-8D47-4433-A3F2-44673F9EC32C}"/>
              </c:ext>
            </c:extLst>
          </c:dPt>
          <c:dLbls>
            <c:numFmt formatCode="#,##0" sourceLinked="0"/>
            <c:spPr>
              <a:noFill/>
              <a:ln>
                <a:noFill/>
              </a:ln>
              <a:effectLst/>
            </c:spPr>
            <c:txPr>
              <a:bodyPr/>
              <a:lstStyle/>
              <a:p>
                <a:pPr>
                  <a:defRPr sz="1200" b="0" i="0" u="none" strike="noStrike">
                    <a:solidFill>
                      <a:srgbClr val="172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Opening</c:v>
                </c:pt>
                <c:pt idx="1">
                  <c:v>Delivery</c:v>
                </c:pt>
                <c:pt idx="2">
                  <c:v>Sale</c:v>
                </c:pt>
                <c:pt idx="3">
                  <c:v>Adjustment</c:v>
                </c:pt>
              </c:strCache>
            </c:strRef>
          </c:cat>
          <c:val>
            <c:numRef>
              <c:f>Sheet1!$B$2:$B$5</c:f>
              <c:numCache>
                <c:formatCode>General</c:formatCode>
                <c:ptCount val="4"/>
                <c:pt idx="0">
                  <c:v>24</c:v>
                </c:pt>
                <c:pt idx="1">
                  <c:v>10</c:v>
                </c:pt>
                <c:pt idx="2">
                  <c:v>-3</c:v>
                </c:pt>
                <c:pt idx="3">
                  <c:v>-1</c:v>
                </c:pt>
              </c:numCache>
            </c:numRef>
          </c:val>
          <c:extLst>
            <c:ext xmlns:c16="http://schemas.microsoft.com/office/drawing/2014/chart" uri="{C3380CC4-5D6E-409C-BE32-E72D297353CC}">
              <c16:uniqueId val="{00000008-8D47-4433-A3F2-44673F9EC32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6657F"/>
                </a:solidFill>
                <a:latin typeface="+mn-lt"/>
              </a:defRPr>
            </a:pPr>
            <a:endParaRPr lang="en-US"/>
          </a:p>
        </c:txPr>
        <c:crossAx val="2094734552"/>
        <c:crosses val="autoZero"/>
        <c:auto val="1"/>
        <c:lblAlgn val="ctr"/>
        <c:lblOffset val="100"/>
        <c:noMultiLvlLbl val="1"/>
      </c:catAx>
      <c:valAx>
        <c:axId val="2094734552"/>
        <c:scaling>
          <c:orientation val="minMax"/>
          <c:max val="30"/>
          <c:min val="-7"/>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5302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project connects the day-to-day retail inventory workflow, from catalog setup and purchasing to receiving, point-of-sale, and reporting. Stock is calculated from an auditable movement ledger rather than edited as a standalone number.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an operational workflow, not simply a set of CRUD screens. Each step creates traceable data that feeds stock and reporting.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separation of duties. The frontend hides or protects routes for UX; authorization is also checked server-side, so the API remains the authority.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tip: receive only part of an order, show the partially-received status and stock increase; then create a sale and show the corresponding stock decrease. This illustrates lifecycle, controls, and ledger.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Docker deployment story: browser to Nginx, API requests proxied by the web container to the API service, and the API connects to PostgreSQL using environment configuration. Be explicit that PostgreSQL is not defined as a service in the current Compose file; it must be reachable at DATABASE_URL.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 quantity is a computed result. The event ledger preserves the history needed to explain how that result was reached.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distinction clear: these are implemented controls and reports. Mention the reports as answers to real operating questions rather than just endpoint names.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expose real credentials during the demo. Explain that PostgreSQL must be reachable from the API container and keep secrets out of the presentation. Invite mentor feedback on the workflow, data model, and deployment.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23B6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chemeClr val="accent3"/>
          </a:solidFill>
          <a:ln/>
        </p:spPr>
      </p:sp>
      <p:pic>
        <p:nvPicPr>
          <p:cNvPr id="3" name="Image 0" descr="/home/claude/logo_white.png"/>
          <p:cNvPicPr>
            <a:picLocks noChangeAspect="1"/>
          </p:cNvPicPr>
          <p:nvPr/>
        </p:nvPicPr>
        <p:blipFill>
          <a:blip r:embed="rId2"/>
          <a:stretch>
            <a:fillRect/>
          </a:stretch>
        </p:blipFill>
        <p:spPr>
          <a:xfrm>
            <a:off x="6583680" y="411480"/>
            <a:ext cx="2103120" cy="541052"/>
          </a:xfrm>
          <a:prstGeom prst="rect">
            <a:avLst/>
          </a:prstGeom>
        </p:spPr>
      </p:pic>
      <p:sp>
        <p:nvSpPr>
          <p:cNvPr id="4" name="Text 1"/>
          <p:cNvSpPr>
            <a:spLocks noGrp="1"/>
          </p:cNvSpPr>
          <p:nvPr>
            <p:ph type="title" idx="102" hasCustomPrompt="1"/>
          </p:nvPr>
        </p:nvSpPr>
        <p:spPr>
          <a:xfrm>
            <a:off x="548640" y="1005840"/>
            <a:ext cx="5852160" cy="109728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5" name="Text 1"/>
          <p:cNvSpPr>
            <a:spLocks noGrp="1"/>
          </p:cNvSpPr>
          <p:nvPr>
            <p:ph type="body" idx="103" hasCustomPrompt="1"/>
          </p:nvPr>
        </p:nvSpPr>
        <p:spPr>
          <a:xfrm>
            <a:off x="548640" y="2194560"/>
            <a:ext cx="5852160" cy="365760"/>
          </a:xfrm>
          <a:prstGeom prst="rect">
            <a:avLst/>
          </a:prstGeom>
          <a:noFill/>
          <a:ln/>
        </p:spPr>
        <p:txBody>
          <a:bodyPr wrap="square" rtlCol="0"/>
          <a:lstStyle>
            <a:lvl1pPr marL="0" indent="0" algn="l">
              <a:buNone/>
              <a:defRPr lang="en-US" sz="1500" dirty="0">
                <a:solidFill>
                  <a:schemeClr val="bg1"/>
                </a:solidFill>
              </a:defRPr>
            </a:lvl1pPr>
          </a:lstStyle>
          <a:p>
            <a:pPr marL="0" indent="0" algn="l">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rgbClr val="123B6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chemeClr val="accent3"/>
          </a:solidFill>
          <a:ln/>
        </p:spPr>
      </p:sp>
      <p:pic>
        <p:nvPicPr>
          <p:cNvPr id="3" name="Image 0" descr="/home/claude/logo_white.png"/>
          <p:cNvPicPr>
            <a:picLocks noChangeAspect="1"/>
          </p:cNvPicPr>
          <p:nvPr/>
        </p:nvPicPr>
        <p:blipFill>
          <a:blip r:embed="rId2"/>
          <a:stretch>
            <a:fillRect/>
          </a:stretch>
        </p:blipFill>
        <p:spPr>
          <a:xfrm>
            <a:off x="6583680" y="411480"/>
            <a:ext cx="2103120" cy="541052"/>
          </a:xfrm>
          <a:prstGeom prst="rect">
            <a:avLst/>
          </a:prstGeom>
        </p:spPr>
      </p:pic>
      <p:sp>
        <p:nvSpPr>
          <p:cNvPr id="4" name="Text 1"/>
          <p:cNvSpPr>
            <a:spLocks noGrp="1"/>
          </p:cNvSpPr>
          <p:nvPr>
            <p:ph type="title" idx="102" hasCustomPrompt="1"/>
          </p:nvPr>
        </p:nvSpPr>
        <p:spPr>
          <a:xfrm>
            <a:off x="548640" y="1737360"/>
            <a:ext cx="8046720" cy="91440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5" name="Text 1"/>
          <p:cNvSpPr>
            <a:spLocks noGrp="1"/>
          </p:cNvSpPr>
          <p:nvPr>
            <p:ph type="body" idx="103" hasCustomPrompt="1"/>
          </p:nvPr>
        </p:nvSpPr>
        <p:spPr>
          <a:xfrm>
            <a:off x="548640" y="2697480"/>
            <a:ext cx="8046720" cy="457200"/>
          </a:xfrm>
          <a:prstGeom prst="rect">
            <a:avLst/>
          </a:prstGeom>
          <a:noFill/>
          <a:ln/>
        </p:spPr>
        <p:txBody>
          <a:bodyPr wrap="square" rtlCol="0"/>
          <a:lstStyle>
            <a:lvl1pPr marL="0" indent="0" algn="l">
              <a:buNone/>
              <a:defRPr lang="en-US" sz="2000" dirty="0">
                <a:solidFill>
                  <a:schemeClr val="accent6"/>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6903720" y="274320"/>
            <a:ext cx="1783080" cy="548640"/>
          </a:xfrm>
          <a:prstGeom prst="rect">
            <a:avLst/>
          </a:prstGeom>
          <a:solidFill>
            <a:schemeClr val="tx2"/>
          </a:solidFill>
          <a:ln/>
        </p:spPr>
      </p:sp>
      <p:pic>
        <p:nvPicPr>
          <p:cNvPr id="3" name="Image 0" descr="/home/claude/logo_white.png"/>
          <p:cNvPicPr>
            <a:picLocks noChangeAspect="1"/>
          </p:cNvPicPr>
          <p:nvPr/>
        </p:nvPicPr>
        <p:blipFill>
          <a:blip r:embed="rId2"/>
          <a:stretch>
            <a:fillRect/>
          </a:stretch>
        </p:blipFill>
        <p:spPr>
          <a:xfrm>
            <a:off x="7155475" y="384048"/>
            <a:ext cx="1279570" cy="329184"/>
          </a:xfrm>
          <a:prstGeom prst="rect">
            <a:avLst/>
          </a:prstGeom>
        </p:spPr>
      </p:pic>
      <p:sp>
        <p:nvSpPr>
          <p:cNvPr id="4" name="Text 1"/>
          <p:cNvSpPr>
            <a:spLocks noGrp="1"/>
          </p:cNvSpPr>
          <p:nvPr>
            <p:ph type="title" idx="102" hasCustomPrompt="1"/>
          </p:nvPr>
        </p:nvSpPr>
        <p:spPr>
          <a:xfrm>
            <a:off x="457200" y="274320"/>
            <a:ext cx="6309360" cy="548640"/>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5" name="Text 1"/>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chemeClr val="accent5"/>
                </a:solidFill>
              </a:rPr>
              <a:t>Retail Inventory &amp; Purchase-Order Management</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502920"/>
            <a:ext cx="3657600" cy="274320"/>
          </a:xfrm>
          <a:prstGeom prst="rect">
            <a:avLst/>
          </a:prstGeom>
          <a:noFill/>
          <a:ln/>
        </p:spPr>
        <p:txBody>
          <a:bodyPr wrap="square" lIns="0" tIns="0" rIns="0" bIns="0" rtlCol="0" anchor="ctr"/>
          <a:lstStyle/>
          <a:p>
            <a:pPr marL="0" indent="0">
              <a:buNone/>
            </a:pPr>
            <a:r>
              <a:rPr lang="en-US" sz="1100" b="1" kern="0" spc="200" dirty="0">
                <a:solidFill>
                  <a:srgbClr val="3CC8B4"/>
                </a:solidFill>
              </a:rPr>
              <a:t>PROJECT PRESENTATION</a:t>
            </a:r>
            <a:endParaRPr lang="en-US" sz="1100" dirty="0"/>
          </a:p>
        </p:txBody>
      </p:sp>
      <p:sp>
        <p:nvSpPr>
          <p:cNvPr id="3" name="Text 1"/>
          <p:cNvSpPr>
            <a:spLocks noGrp="1"/>
          </p:cNvSpPr>
          <p:nvPr>
            <p:ph type="title" idx="102" hasCustomPrompt="1"/>
          </p:nvPr>
        </p:nvSpPr>
        <p:spPr>
          <a:xfrm>
            <a:off x="548640" y="1005840"/>
            <a:ext cx="5852160" cy="1097280"/>
          </a:xfrm>
          <a:prstGeom prst="rect">
            <a:avLst/>
          </a:prstGeom>
          <a:noFill/>
          <a:ln/>
        </p:spPr>
        <p:txBody>
          <a:bodyPr wrap="square" lIns="0" tIns="0" rIns="0" bIns="0" rtlCol="0" anchor="t"/>
          <a:lstStyle/>
          <a:p>
            <a:pPr marL="0" indent="0" algn="l">
              <a:buNone/>
            </a:pPr>
            <a:r>
              <a:rPr lang="en-US" sz="3000" b="1" dirty="0">
                <a:solidFill>
                  <a:schemeClr val="bg1"/>
                </a:solidFill>
              </a:rPr>
              <a:t>Retail Inventory &amp;</a:t>
            </a:r>
            <a:endParaRPr lang="en-US" sz="3000" dirty="0"/>
          </a:p>
          <a:p>
            <a:pPr marL="0" indent="0" algn="l">
              <a:buNone/>
            </a:pPr>
            <a:r>
              <a:rPr lang="en-US" sz="3000" b="1" dirty="0">
                <a:solidFill>
                  <a:schemeClr val="bg1"/>
                </a:solidFill>
              </a:rPr>
              <a:t>Purchase-Order Management</a:t>
            </a:r>
            <a:endParaRPr lang="en-US" sz="3000" dirty="0"/>
          </a:p>
        </p:txBody>
      </p:sp>
      <p:sp>
        <p:nvSpPr>
          <p:cNvPr id="4" name="Text 1"/>
          <p:cNvSpPr>
            <a:spLocks noGrp="1"/>
          </p:cNvSpPr>
          <p:nvPr>
            <p:ph type="body" idx="103" hasCustomPrompt="1"/>
          </p:nvPr>
        </p:nvSpPr>
        <p:spPr>
          <a:xfrm>
            <a:off x="548640" y="2194560"/>
            <a:ext cx="5852160" cy="365760"/>
          </a:xfrm>
          <a:prstGeom prst="rect">
            <a:avLst/>
          </a:prstGeom>
          <a:noFill/>
          <a:ln/>
        </p:spPr>
        <p:txBody>
          <a:bodyPr wrap="square" lIns="0" tIns="0" rIns="0" bIns="0" rtlCol="0" anchor="t"/>
          <a:lstStyle/>
          <a:p>
            <a:pPr marL="0" indent="0" algn="l">
              <a:buNone/>
            </a:pPr>
            <a:r>
              <a:rPr lang="en-US" sz="1500" dirty="0">
                <a:solidFill>
                  <a:schemeClr val="bg1"/>
                </a:solidFill>
              </a:rPr>
              <a:t>A role-aware, ledger-based system for stock, purchasing, and sales</a:t>
            </a:r>
            <a:endParaRPr lang="en-US" sz="1500" dirty="0"/>
          </a:p>
        </p:txBody>
      </p:sp>
      <p:sp>
        <p:nvSpPr>
          <p:cNvPr id="5" name="Divider"/>
          <p:cNvSpPr/>
          <p:nvPr/>
        </p:nvSpPr>
        <p:spPr>
          <a:xfrm>
            <a:off x="548640" y="2834640"/>
            <a:ext cx="8046720" cy="0"/>
          </a:xfrm>
          <a:prstGeom prst="line">
            <a:avLst/>
          </a:prstGeom>
          <a:noFill/>
          <a:ln w="9525">
            <a:solidFill>
              <a:schemeClr val="accent6">
                <a:alpha val="50000"/>
              </a:schemeClr>
            </a:solidFill>
            <a:prstDash val="solid"/>
          </a:ln>
        </p:spPr>
      </p:sp>
      <p:sp>
        <p:nvSpPr>
          <p:cNvPr id="6" name="Flow line"/>
          <p:cNvSpPr txBox="1"/>
          <p:nvPr/>
        </p:nvSpPr>
        <p:spPr>
          <a:xfrm>
            <a:off x="548640" y="3017520"/>
            <a:ext cx="8046720" cy="274320"/>
          </a:xfrm>
          <a:prstGeom prst="rect">
            <a:avLst/>
          </a:prstGeom>
          <a:noFill/>
          <a:ln/>
        </p:spPr>
        <p:txBody>
          <a:bodyPr wrap="square" lIns="0" tIns="0" rIns="0" bIns="0" rtlCol="0" anchor="ctr"/>
          <a:lstStyle/>
          <a:p>
            <a:pPr marL="0" indent="0">
              <a:buNone/>
            </a:pPr>
            <a:r>
              <a:rPr lang="en-US" sz="1200" b="1" dirty="0">
                <a:solidFill>
                  <a:schemeClr val="bg1"/>
                </a:solidFill>
              </a:rPr>
              <a:t>CATALOG  →  PURCHASING  →  RECEIVING  →  STOCK LEDGER  →  CHECKOUT  →  REPORTING</a:t>
            </a:r>
            <a:endParaRPr lang="en-US" sz="1200" dirty="0"/>
          </a:p>
        </p:txBody>
      </p:sp>
      <p:sp>
        <p:nvSpPr>
          <p:cNvPr id="7" name="Tech stack"/>
          <p:cNvSpPr txBox="1"/>
          <p:nvPr/>
        </p:nvSpPr>
        <p:spPr>
          <a:xfrm>
            <a:off x="548640" y="3474720"/>
            <a:ext cx="5943600" cy="274320"/>
          </a:xfrm>
          <a:prstGeom prst="rect">
            <a:avLst/>
          </a:prstGeom>
          <a:noFill/>
          <a:ln/>
        </p:spPr>
        <p:txBody>
          <a:bodyPr wrap="square" lIns="0" tIns="0" rIns="0" bIns="0" rtlCol="0" anchor="ctr"/>
          <a:lstStyle/>
          <a:p>
            <a:pPr marL="0" indent="0">
              <a:buNone/>
            </a:pPr>
            <a:r>
              <a:rPr lang="en-US" sz="1400" dirty="0">
                <a:solidFill>
                  <a:srgbClr val="3CC8B4"/>
                </a:solidFill>
              </a:rPr>
              <a:t>React + Vite · Flask · SQLAlchemy · PostgreSQL</a:t>
            </a:r>
            <a:endParaRPr lang="en-US" sz="1400" dirty="0"/>
          </a:p>
        </p:txBody>
      </p:sp>
      <p:sp>
        <p:nvSpPr>
          <p:cNvPr id="8" name="Presenters"/>
          <p:cNvSpPr txBox="1"/>
          <p:nvPr/>
        </p:nvSpPr>
        <p:spPr>
          <a:xfrm>
            <a:off x="548640" y="4114800"/>
            <a:ext cx="4937760" cy="274320"/>
          </a:xfrm>
          <a:prstGeom prst="rect">
            <a:avLst/>
          </a:prstGeom>
          <a:noFill/>
          <a:ln/>
        </p:spPr>
        <p:txBody>
          <a:bodyPr wrap="square" lIns="0" tIns="0" rIns="0" bIns="0" rtlCol="0" anchor="ctr"/>
          <a:lstStyle/>
          <a:p>
            <a:pPr marL="0" indent="0">
              <a:buNone/>
            </a:pPr>
            <a:r>
              <a:rPr lang="en-US" sz="1300" b="1" dirty="0">
                <a:solidFill>
                  <a:schemeClr val="bg1"/>
                </a:solidFill>
              </a:rPr>
              <a:t>Kuldeep Choudhary  ·  Mudavath Tharun  ·  Shubham Shekhawat</a:t>
            </a:r>
            <a:endParaRPr lang="en-US" sz="1300" dirty="0"/>
          </a:p>
        </p:txBody>
      </p:sp>
      <p:sp>
        <p:nvSpPr>
          <p:cNvPr id="9" name="Trainer"/>
          <p:cNvSpPr txBox="1"/>
          <p:nvPr/>
        </p:nvSpPr>
        <p:spPr>
          <a:xfrm>
            <a:off x="548640" y="4434840"/>
            <a:ext cx="4937760" cy="274320"/>
          </a:xfrm>
          <a:prstGeom prst="rect">
            <a:avLst/>
          </a:prstGeom>
          <a:noFill/>
          <a:ln/>
        </p:spPr>
        <p:txBody>
          <a:bodyPr wrap="square" lIns="0" tIns="0" rIns="0" bIns="0" rtlCol="0" anchor="ctr"/>
          <a:lstStyle/>
          <a:p>
            <a:pPr marL="0" indent="0">
              <a:buNone/>
            </a:pPr>
            <a:r>
              <a:rPr lang="en-US" sz="1200" dirty="0">
                <a:solidFill>
                  <a:schemeClr val="accent6"/>
                </a:solidFill>
              </a:rPr>
              <a:t>Trainer: Rishabh Verma</a:t>
            </a:r>
            <a:endParaRPr lang="en-US" sz="1200" dirty="0"/>
          </a:p>
        </p:txBody>
      </p:sp>
      <p:sp>
        <p:nvSpPr>
          <p:cNvPr id="10" name="Tagline"/>
          <p:cNvSpPr txBox="1"/>
          <p:nvPr/>
        </p:nvSpPr>
        <p:spPr>
          <a:xfrm>
            <a:off x="5669280" y="4114800"/>
            <a:ext cx="3017520" cy="594360"/>
          </a:xfrm>
          <a:prstGeom prst="rect">
            <a:avLst/>
          </a:prstGeom>
          <a:noFill/>
          <a:ln/>
        </p:spPr>
        <p:txBody>
          <a:bodyPr wrap="square" lIns="0" tIns="0" rIns="0" bIns="0" rtlCol="0" anchor="t"/>
          <a:lstStyle/>
          <a:p>
            <a:pPr marL="0" indent="0" algn="r">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6309360" cy="548640"/>
          </a:xfrm>
          <a:prstGeom prst="rect">
            <a:avLst/>
          </a:prstGeom>
          <a:noFill/>
          <a:ln/>
        </p:spPr>
        <p:txBody>
          <a:bodyPr wrap="square" lIns="0" tIns="0" rIns="0" bIns="0" rtlCol="0" anchor="ctr"/>
          <a:lstStyle/>
          <a:p>
            <a:pPr marL="0" indent="0" algn="l">
              <a:buNone/>
            </a:pPr>
            <a:r>
              <a:rPr lang="en-US" sz="2800" b="1" dirty="0">
                <a:solidFill>
                  <a:schemeClr val="tx2"/>
                </a:solidFill>
              </a:rPr>
              <a:t>The problem and our solution</a:t>
            </a:r>
            <a:endParaRPr lang="en-US" sz="2800" dirty="0"/>
          </a:p>
        </p:txBody>
      </p:sp>
      <p:sp>
        <p:nvSpPr>
          <p:cNvPr id="3" name="Problem card"/>
          <p:cNvSpPr/>
          <p:nvPr/>
        </p:nvSpPr>
        <p:spPr>
          <a:xfrm>
            <a:off x="457200" y="1097280"/>
            <a:ext cx="4023360" cy="1508760"/>
          </a:xfrm>
          <a:prstGeom prst="roundRect">
            <a:avLst>
              <a:gd name="adj" fmla="val 4848"/>
            </a:avLst>
          </a:prstGeom>
          <a:solidFill>
            <a:schemeClr val="bg1"/>
          </a:solidFill>
          <a:ln/>
          <a:effectLst>
            <a:outerShdw blurRad="76200" dist="25400" dir="5400000" algn="bl" rotWithShape="0">
              <a:srgbClr val="172033">
                <a:alpha val="12000"/>
              </a:srgbClr>
            </a:outerShdw>
          </a:effectLst>
        </p:spPr>
      </p:sp>
      <p:sp>
        <p:nvSpPr>
          <p:cNvPr id="4" name="Label THE PROBLEM"/>
          <p:cNvSpPr txBox="1"/>
          <p:nvPr/>
        </p:nvSpPr>
        <p:spPr>
          <a:xfrm>
            <a:off x="640080" y="1207008"/>
            <a:ext cx="3566160" cy="228600"/>
          </a:xfrm>
          <a:prstGeom prst="rect">
            <a:avLst/>
          </a:prstGeom>
          <a:noFill/>
          <a:ln/>
        </p:spPr>
        <p:txBody>
          <a:bodyPr wrap="square" lIns="0" tIns="0" rIns="0" bIns="0" rtlCol="0" anchor="ctr"/>
          <a:lstStyle/>
          <a:p>
            <a:pPr marL="0" indent="0">
              <a:buNone/>
            </a:pPr>
            <a:r>
              <a:rPr lang="en-US" sz="1100" b="1" kern="0" spc="100" dirty="0">
                <a:solidFill>
                  <a:schemeClr val="accent4"/>
                </a:solidFill>
              </a:rPr>
              <a:t>THE PROBLEM</a:t>
            </a:r>
            <a:endParaRPr lang="en-US" sz="1100" dirty="0"/>
          </a:p>
        </p:txBody>
      </p:sp>
      <p:sp>
        <p:nvSpPr>
          <p:cNvPr id="5" name="Problem text"/>
          <p:cNvSpPr txBox="1"/>
          <p:nvPr/>
        </p:nvSpPr>
        <p:spPr>
          <a:xfrm>
            <a:off x="640080" y="1463040"/>
            <a:ext cx="3657600" cy="548640"/>
          </a:xfrm>
          <a:prstGeom prst="rect">
            <a:avLst/>
          </a:prstGeom>
          <a:noFill/>
          <a:ln/>
        </p:spPr>
        <p:txBody>
          <a:bodyPr wrap="square" lIns="0" tIns="0" rIns="0" bIns="0" rtlCol="0" anchor="t"/>
          <a:lstStyle/>
          <a:p>
            <a:pPr marL="0" indent="0">
              <a:buNone/>
            </a:pPr>
            <a:r>
              <a:rPr lang="en-US" sz="1200" dirty="0">
                <a:solidFill>
                  <a:schemeClr val="tx1"/>
                </a:solidFill>
              </a:rPr>
              <a:t>Retail teams must coordinate products, suppliers, purchase orders, stock, and sales. Tracked separately, it is hard to know:</a:t>
            </a:r>
            <a:endParaRPr lang="en-US" sz="1200" dirty="0"/>
          </a:p>
        </p:txBody>
      </p:sp>
      <p:sp>
        <p:nvSpPr>
          <p:cNvPr id="6" name="Problem questions"/>
          <p:cNvSpPr txBox="1"/>
          <p:nvPr/>
        </p:nvSpPr>
        <p:spPr>
          <a:xfrm>
            <a:off x="640080" y="2011680"/>
            <a:ext cx="3657600" cy="457200"/>
          </a:xfrm>
          <a:prstGeom prst="rect">
            <a:avLst/>
          </a:prstGeom>
          <a:noFill/>
          <a:ln/>
        </p:spPr>
        <p:txBody>
          <a:bodyPr wrap="square" lIns="0" tIns="0" rIns="0" bIns="0" rtlCol="0" anchor="t"/>
          <a:lstStyle/>
          <a:p>
            <a:pPr marL="0" indent="0">
              <a:buNone/>
            </a:pPr>
            <a:r>
              <a:rPr lang="en-US" sz="1200" b="1" dirty="0">
                <a:solidFill>
                  <a:schemeClr val="tx2"/>
                </a:solidFill>
              </a:rPr>
              <a:t>What is available? What is on order? What sold? Why did stock change?</a:t>
            </a:r>
            <a:endParaRPr lang="en-US" sz="1200" dirty="0"/>
          </a:p>
        </p:txBody>
      </p:sp>
      <p:sp>
        <p:nvSpPr>
          <p:cNvPr id="7" name="Solution card"/>
          <p:cNvSpPr/>
          <p:nvPr/>
        </p:nvSpPr>
        <p:spPr>
          <a:xfrm>
            <a:off x="4663440" y="1097280"/>
            <a:ext cx="4023360" cy="1508760"/>
          </a:xfrm>
          <a:prstGeom prst="roundRect">
            <a:avLst>
              <a:gd name="adj" fmla="val 4848"/>
            </a:avLst>
          </a:prstGeom>
          <a:solidFill>
            <a:schemeClr val="tx2"/>
          </a:solidFill>
          <a:ln/>
          <a:effectLst>
            <a:outerShdw blurRad="76200" dist="25400" dir="5400000" algn="bl" rotWithShape="0">
              <a:srgbClr val="172033">
                <a:alpha val="12000"/>
              </a:srgbClr>
            </a:outerShdw>
          </a:effectLst>
        </p:spPr>
      </p:sp>
      <p:sp>
        <p:nvSpPr>
          <p:cNvPr id="8" name="Label OUR SOLUTION"/>
          <p:cNvSpPr txBox="1"/>
          <p:nvPr/>
        </p:nvSpPr>
        <p:spPr>
          <a:xfrm>
            <a:off x="4846320" y="1207008"/>
            <a:ext cx="3566160"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OUR SOLUTION</a:t>
            </a:r>
            <a:endParaRPr lang="en-US" sz="1100" dirty="0"/>
          </a:p>
        </p:txBody>
      </p:sp>
      <p:sp>
        <p:nvSpPr>
          <p:cNvPr id="9" name="Solution text"/>
          <p:cNvSpPr txBox="1"/>
          <p:nvPr/>
        </p:nvSpPr>
        <p:spPr>
          <a:xfrm>
            <a:off x="4846320" y="1444752"/>
            <a:ext cx="3657600" cy="228600"/>
          </a:xfrm>
          <a:prstGeom prst="rect">
            <a:avLst/>
          </a:prstGeom>
          <a:noFill/>
          <a:ln/>
        </p:spPr>
        <p:txBody>
          <a:bodyPr wrap="square" lIns="0" tIns="0" rIns="0" bIns="0" rtlCol="0" anchor="ctr"/>
          <a:lstStyle/>
          <a:p>
            <a:pPr marL="0" indent="0">
              <a:buNone/>
            </a:pPr>
            <a:r>
              <a:rPr lang="en-US" sz="1200" dirty="0">
                <a:solidFill>
                  <a:schemeClr val="bg1"/>
                </a:solidFill>
              </a:rPr>
              <a:t>A role-aware app that connects the full operating cycle:</a:t>
            </a:r>
            <a:endParaRPr lang="en-US" sz="1200" dirty="0"/>
          </a:p>
        </p:txBody>
      </p:sp>
      <p:sp>
        <p:nvSpPr>
          <p:cNvPr id="10" name="Cycle chip Product catalog"/>
          <p:cNvSpPr/>
          <p:nvPr/>
        </p:nvSpPr>
        <p:spPr>
          <a:xfrm>
            <a:off x="4846320" y="1737360"/>
            <a:ext cx="1737360" cy="237744"/>
          </a:xfrm>
          <a:prstGeom prst="roundRect">
            <a:avLst>
              <a:gd name="adj" fmla="val 23077"/>
            </a:avLst>
          </a:prstGeom>
          <a:solidFill>
            <a:schemeClr val="bg1">
              <a:alpha val="15000"/>
            </a:schemeClr>
          </a:solidFill>
          <a:ln/>
        </p:spPr>
        <p:txBody>
          <a:bodyPr wrap="square" lIns="0" tIns="101600" rIns="0" bIns="0" rtlCol="0" anchor="ctr"/>
          <a:lstStyle/>
          <a:p>
            <a:pPr marL="0" indent="0" algn="l">
              <a:buNone/>
            </a:pPr>
            <a:r>
              <a:rPr lang="en-US" sz="1100" b="1" dirty="0">
                <a:solidFill>
                  <a:schemeClr val="accent2"/>
                </a:solidFill>
              </a:rPr>
              <a:t>1  </a:t>
            </a:r>
            <a:r>
              <a:rPr lang="en-US" sz="1100" b="1" dirty="0">
                <a:solidFill>
                  <a:schemeClr val="bg1"/>
                </a:solidFill>
              </a:rPr>
              <a:t>Product catalog</a:t>
            </a:r>
            <a:endParaRPr lang="en-US" sz="1100" dirty="0"/>
          </a:p>
        </p:txBody>
      </p:sp>
      <p:sp>
        <p:nvSpPr>
          <p:cNvPr id="11" name="Cycle chip Purchase order"/>
          <p:cNvSpPr/>
          <p:nvPr/>
        </p:nvSpPr>
        <p:spPr>
          <a:xfrm>
            <a:off x="6675120" y="1737360"/>
            <a:ext cx="1737360" cy="237744"/>
          </a:xfrm>
          <a:prstGeom prst="roundRect">
            <a:avLst>
              <a:gd name="adj" fmla="val 23077"/>
            </a:avLst>
          </a:prstGeom>
          <a:solidFill>
            <a:schemeClr val="bg1">
              <a:alpha val="15000"/>
            </a:schemeClr>
          </a:solidFill>
          <a:ln/>
        </p:spPr>
        <p:txBody>
          <a:bodyPr wrap="square" lIns="0" tIns="101600" rIns="0" bIns="0" rtlCol="0" anchor="ctr"/>
          <a:lstStyle/>
          <a:p>
            <a:pPr marL="0" indent="0" algn="l">
              <a:buNone/>
            </a:pPr>
            <a:r>
              <a:rPr lang="en-US" sz="1100" b="1" dirty="0">
                <a:solidFill>
                  <a:schemeClr val="accent2"/>
                </a:solidFill>
              </a:rPr>
              <a:t>2  </a:t>
            </a:r>
            <a:r>
              <a:rPr lang="en-US" sz="1100" b="1" dirty="0">
                <a:solidFill>
                  <a:schemeClr val="bg1"/>
                </a:solidFill>
              </a:rPr>
              <a:t>Purchase order</a:t>
            </a:r>
            <a:endParaRPr lang="en-US" sz="1100" dirty="0"/>
          </a:p>
        </p:txBody>
      </p:sp>
      <p:sp>
        <p:nvSpPr>
          <p:cNvPr id="12" name="Cycle chip Goods receiving"/>
          <p:cNvSpPr/>
          <p:nvPr/>
        </p:nvSpPr>
        <p:spPr>
          <a:xfrm>
            <a:off x="4846320" y="2002536"/>
            <a:ext cx="1737360" cy="237744"/>
          </a:xfrm>
          <a:prstGeom prst="roundRect">
            <a:avLst>
              <a:gd name="adj" fmla="val 23077"/>
            </a:avLst>
          </a:prstGeom>
          <a:solidFill>
            <a:schemeClr val="bg1">
              <a:alpha val="15000"/>
            </a:schemeClr>
          </a:solidFill>
          <a:ln/>
        </p:spPr>
        <p:txBody>
          <a:bodyPr wrap="square" lIns="0" tIns="101600" rIns="0" bIns="0" rtlCol="0" anchor="ctr"/>
          <a:lstStyle/>
          <a:p>
            <a:pPr marL="0" indent="0" algn="l">
              <a:buNone/>
            </a:pPr>
            <a:r>
              <a:rPr lang="en-US" sz="1100" b="1" dirty="0">
                <a:solidFill>
                  <a:schemeClr val="accent2"/>
                </a:solidFill>
              </a:rPr>
              <a:t>3  </a:t>
            </a:r>
            <a:r>
              <a:rPr lang="en-US" sz="1100" b="1" dirty="0">
                <a:solidFill>
                  <a:schemeClr val="bg1"/>
                </a:solidFill>
              </a:rPr>
              <a:t>Goods receiving</a:t>
            </a:r>
            <a:endParaRPr lang="en-US" sz="1100" dirty="0"/>
          </a:p>
        </p:txBody>
      </p:sp>
      <p:sp>
        <p:nvSpPr>
          <p:cNvPr id="13" name="Cycle chip Stock ledger"/>
          <p:cNvSpPr/>
          <p:nvPr/>
        </p:nvSpPr>
        <p:spPr>
          <a:xfrm>
            <a:off x="6675120" y="2002536"/>
            <a:ext cx="1737360" cy="237744"/>
          </a:xfrm>
          <a:prstGeom prst="roundRect">
            <a:avLst>
              <a:gd name="adj" fmla="val 23077"/>
            </a:avLst>
          </a:prstGeom>
          <a:solidFill>
            <a:schemeClr val="bg1">
              <a:alpha val="15000"/>
            </a:schemeClr>
          </a:solidFill>
          <a:ln/>
        </p:spPr>
        <p:txBody>
          <a:bodyPr wrap="square" lIns="0" tIns="101600" rIns="0" bIns="0" rtlCol="0" anchor="ctr"/>
          <a:lstStyle/>
          <a:p>
            <a:pPr marL="0" indent="0" algn="l">
              <a:buNone/>
            </a:pPr>
            <a:r>
              <a:rPr lang="en-US" sz="1100" b="1" dirty="0">
                <a:solidFill>
                  <a:schemeClr val="accent2"/>
                </a:solidFill>
              </a:rPr>
              <a:t>4  </a:t>
            </a:r>
            <a:r>
              <a:rPr lang="en-US" sz="1100" b="1" dirty="0">
                <a:solidFill>
                  <a:schemeClr val="bg1"/>
                </a:solidFill>
              </a:rPr>
              <a:t>Stock ledger</a:t>
            </a:r>
            <a:endParaRPr lang="en-US" sz="1100" dirty="0"/>
          </a:p>
        </p:txBody>
      </p:sp>
      <p:sp>
        <p:nvSpPr>
          <p:cNvPr id="14" name="Cycle chip Point of sale"/>
          <p:cNvSpPr/>
          <p:nvPr/>
        </p:nvSpPr>
        <p:spPr>
          <a:xfrm>
            <a:off x="4846320" y="2267712"/>
            <a:ext cx="1737360" cy="237744"/>
          </a:xfrm>
          <a:prstGeom prst="roundRect">
            <a:avLst>
              <a:gd name="adj" fmla="val 23077"/>
            </a:avLst>
          </a:prstGeom>
          <a:solidFill>
            <a:schemeClr val="bg1">
              <a:alpha val="15000"/>
            </a:schemeClr>
          </a:solidFill>
          <a:ln/>
        </p:spPr>
        <p:txBody>
          <a:bodyPr wrap="square" lIns="0" tIns="101600" rIns="0" bIns="0" rtlCol="0" anchor="ctr"/>
          <a:lstStyle/>
          <a:p>
            <a:pPr marL="0" indent="0" algn="l">
              <a:buNone/>
            </a:pPr>
            <a:r>
              <a:rPr lang="en-US" sz="1100" b="1" dirty="0">
                <a:solidFill>
                  <a:schemeClr val="accent2"/>
                </a:solidFill>
              </a:rPr>
              <a:t>5  </a:t>
            </a:r>
            <a:r>
              <a:rPr lang="en-US" sz="1100" b="1" dirty="0">
                <a:solidFill>
                  <a:schemeClr val="bg1"/>
                </a:solidFill>
              </a:rPr>
              <a:t>Point of sale</a:t>
            </a:r>
            <a:endParaRPr lang="en-US" sz="1100" dirty="0"/>
          </a:p>
        </p:txBody>
      </p:sp>
      <p:sp>
        <p:nvSpPr>
          <p:cNvPr id="15" name="Cycle chip Reports"/>
          <p:cNvSpPr/>
          <p:nvPr/>
        </p:nvSpPr>
        <p:spPr>
          <a:xfrm>
            <a:off x="6675120" y="2267712"/>
            <a:ext cx="1737360" cy="237744"/>
          </a:xfrm>
          <a:prstGeom prst="roundRect">
            <a:avLst>
              <a:gd name="adj" fmla="val 23077"/>
            </a:avLst>
          </a:prstGeom>
          <a:solidFill>
            <a:schemeClr val="bg1">
              <a:alpha val="15000"/>
            </a:schemeClr>
          </a:solidFill>
          <a:ln/>
        </p:spPr>
        <p:txBody>
          <a:bodyPr wrap="square" lIns="0" tIns="101600" rIns="0" bIns="0" rtlCol="0" anchor="ctr"/>
          <a:lstStyle/>
          <a:p>
            <a:pPr marL="0" indent="0" algn="l">
              <a:buNone/>
            </a:pPr>
            <a:r>
              <a:rPr lang="en-US" sz="1100" b="1" dirty="0">
                <a:solidFill>
                  <a:schemeClr val="accent2"/>
                </a:solidFill>
              </a:rPr>
              <a:t>6  </a:t>
            </a:r>
            <a:r>
              <a:rPr lang="en-US" sz="1100" b="1" dirty="0">
                <a:solidFill>
                  <a:schemeClr val="bg1"/>
                </a:solidFill>
              </a:rPr>
              <a:t>Reports</a:t>
            </a:r>
            <a:endParaRPr lang="en-US" sz="1100" dirty="0"/>
          </a:p>
        </p:txBody>
      </p:sp>
      <p:graphicFrame>
        <p:nvGraphicFramePr>
          <p:cNvPr id="16" name="Objectives table"/>
          <p:cNvGraphicFramePr>
            <a:graphicFrameLocks noGrp="1"/>
          </p:cNvGraphicFramePr>
          <p:nvPr>
            <p:extLst>
              <p:ext uri="{D42A27DB-BD31-4B8C-83A1-F6EECF244321}">
                <p14:modId xmlns:p14="http://schemas.microsoft.com/office/powerpoint/2010/main" val="1579011935"/>
              </p:ext>
            </p:extLst>
          </p:nvPr>
        </p:nvGraphicFramePr>
        <p:xfrm>
          <a:off x="457200" y="2761488"/>
          <a:ext cx="8229600" cy="1755648"/>
        </p:xfrm>
        <a:graphic>
          <a:graphicData uri="http://schemas.openxmlformats.org/drawingml/2006/table">
            <a:tbl>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Project objective</a:t>
                      </a:r>
                      <a:endParaRPr lang="en-US" sz="1200" dirty="0">
                        <a:latin typeface="Calibri" charset="0"/>
                        <a:ea typeface="Calibri" charset="0"/>
                        <a:cs typeface="Calibri" charset="0"/>
                      </a:endParaRPr>
                    </a:p>
                  </a:txBody>
                  <a:tcPr marT="18288" marB="18288"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23B6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we implemented</a:t>
                      </a:r>
                      <a:endParaRPr lang="en-US" sz="1200" dirty="0">
                        <a:latin typeface="Calibri" charset="0"/>
                        <a:ea typeface="Calibri" charset="0"/>
                        <a:cs typeface="Calibri" charset="0"/>
                      </a:endParaRPr>
                    </a:p>
                  </a:txBody>
                  <a:tcPr marT="18288" marB="18288"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23B68"/>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123B68"/>
                          </a:solidFill>
                          <a:latin typeface="Calibri" pitchFamily="34" charset="0"/>
                          <a:ea typeface="Calibri" pitchFamily="34" charset="-122"/>
                          <a:cs typeface="Calibri" pitchFamily="34" charset="-120"/>
                        </a:rPr>
                        <a:t>Know current stock</a:t>
                      </a:r>
                      <a:endParaRPr lang="en-US" sz="1200" dirty="0">
                        <a:latin typeface="Calibri" charset="0"/>
                        <a:ea typeface="Calibri" charset="0"/>
                        <a:cs typeface="Calibri" charset="0"/>
                      </a:endParaRPr>
                    </a:p>
                  </a:txBody>
                  <a:tcPr marT="18288" marB="18288"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200" dirty="0">
                          <a:solidFill>
                            <a:srgbClr val="172033"/>
                          </a:solidFill>
                          <a:latin typeface="Calibri" pitchFamily="34" charset="0"/>
                          <a:ea typeface="Calibri" pitchFamily="34" charset="-122"/>
                          <a:cs typeface="Calibri" pitchFamily="34" charset="-120"/>
                        </a:rPr>
                        <a:t>Compute quantity from signed inventory movements</a:t>
                      </a:r>
                      <a:endParaRPr lang="en-US" sz="1200" dirty="0">
                        <a:latin typeface="Calibri" charset="0"/>
                        <a:ea typeface="Calibri" charset="0"/>
                        <a:cs typeface="Calibri" charset="0"/>
                      </a:endParaRPr>
                    </a:p>
                  </a:txBody>
                  <a:tcPr marT="18288" marB="18288"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200" b="1" dirty="0">
                          <a:solidFill>
                            <a:srgbClr val="123B68"/>
                          </a:solidFill>
                          <a:latin typeface="Calibri" pitchFamily="34" charset="0"/>
                          <a:ea typeface="Calibri" pitchFamily="34" charset="-122"/>
                          <a:cs typeface="Calibri" pitchFamily="34" charset="-120"/>
                        </a:rPr>
                        <a:t>Control purchasing</a:t>
                      </a:r>
                      <a:endParaRPr lang="en-US" sz="1200" dirty="0">
                        <a:latin typeface="Calibri" charset="0"/>
                        <a:ea typeface="Calibri" charset="0"/>
                        <a:cs typeface="Calibri" charset="0"/>
                      </a:endParaRPr>
                    </a:p>
                  </a:txBody>
                  <a:tcPr marT="18288" marB="18288"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EAF0F8"/>
                    </a:solidFill>
                  </a:tcPr>
                </a:tc>
                <a:tc>
                  <a:txBody>
                    <a:bodyPr/>
                    <a:lstStyle/>
                    <a:p>
                      <a:pPr marL="0" indent="0">
                        <a:buNone/>
                      </a:pPr>
                      <a:r>
                        <a:rPr lang="en-US" sz="1200" dirty="0">
                          <a:solidFill>
                            <a:srgbClr val="172033"/>
                          </a:solidFill>
                          <a:latin typeface="Calibri" pitchFamily="34" charset="0"/>
                          <a:ea typeface="Calibri" pitchFamily="34" charset="-122"/>
                          <a:cs typeface="Calibri" pitchFamily="34" charset="-120"/>
                        </a:rPr>
                        <a:t>Draft and approval flow, partial receiving, and order status</a:t>
                      </a:r>
                      <a:endParaRPr lang="en-US" sz="1200" dirty="0">
                        <a:latin typeface="Calibri" charset="0"/>
                        <a:ea typeface="Calibri" charset="0"/>
                        <a:cs typeface="Calibri" charset="0"/>
                      </a:endParaRPr>
                    </a:p>
                  </a:txBody>
                  <a:tcPr marT="18288" marB="18288"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EAF0F8"/>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123B68"/>
                          </a:solidFill>
                          <a:latin typeface="Calibri" pitchFamily="34" charset="0"/>
                          <a:ea typeface="Calibri" pitchFamily="34" charset="-122"/>
                          <a:cs typeface="Calibri" pitchFamily="34" charset="-120"/>
                        </a:rPr>
                        <a:t>Prevent avoidable errors</a:t>
                      </a:r>
                      <a:endParaRPr lang="en-US" sz="1200" dirty="0">
                        <a:latin typeface="Calibri" charset="0"/>
                        <a:ea typeface="Calibri" charset="0"/>
                        <a:cs typeface="Calibri" charset="0"/>
                      </a:endParaRPr>
                    </a:p>
                  </a:txBody>
                  <a:tcPr marT="18288" marB="18288"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200" dirty="0">
                          <a:solidFill>
                            <a:srgbClr val="172033"/>
                          </a:solidFill>
                          <a:latin typeface="Calibri" pitchFamily="34" charset="0"/>
                          <a:ea typeface="Calibri" pitchFamily="34" charset="-122"/>
                          <a:cs typeface="Calibri" pitchFamily="34" charset="-120"/>
                        </a:rPr>
                        <a:t>Reject overselling and receiving beyond ordered quantities</a:t>
                      </a:r>
                      <a:endParaRPr lang="en-US" sz="1200" dirty="0">
                        <a:latin typeface="Calibri" charset="0"/>
                        <a:ea typeface="Calibri" charset="0"/>
                        <a:cs typeface="Calibri" charset="0"/>
                      </a:endParaRPr>
                    </a:p>
                  </a:txBody>
                  <a:tcPr marT="18288" marB="18288"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200" b="1" dirty="0">
                          <a:solidFill>
                            <a:srgbClr val="123B68"/>
                          </a:solidFill>
                          <a:latin typeface="Calibri" pitchFamily="34" charset="0"/>
                          <a:ea typeface="Calibri" pitchFamily="34" charset="-122"/>
                          <a:cs typeface="Calibri" pitchFamily="34" charset="-120"/>
                        </a:rPr>
                        <a:t>Clarify responsibility</a:t>
                      </a:r>
                      <a:endParaRPr lang="en-US" sz="1200" dirty="0">
                        <a:latin typeface="Calibri" charset="0"/>
                        <a:ea typeface="Calibri" charset="0"/>
                        <a:cs typeface="Calibri" charset="0"/>
                      </a:endParaRPr>
                    </a:p>
                  </a:txBody>
                  <a:tcPr marT="18288" marB="18288"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EAF0F8"/>
                    </a:solidFill>
                  </a:tcPr>
                </a:tc>
                <a:tc>
                  <a:txBody>
                    <a:bodyPr/>
                    <a:lstStyle/>
                    <a:p>
                      <a:pPr marL="0" indent="0">
                        <a:buNone/>
                      </a:pPr>
                      <a:r>
                        <a:rPr lang="en-US" sz="1200" dirty="0">
                          <a:solidFill>
                            <a:srgbClr val="172033"/>
                          </a:solidFill>
                          <a:latin typeface="Calibri" pitchFamily="34" charset="0"/>
                          <a:ea typeface="Calibri" pitchFamily="34" charset="-122"/>
                          <a:cs typeface="Calibri" pitchFamily="34" charset="-120"/>
                        </a:rPr>
                        <a:t>Owner, Manager, and Staff roles enforced by the API</a:t>
                      </a:r>
                      <a:endParaRPr lang="en-US" sz="1200" dirty="0">
                        <a:latin typeface="Calibri" charset="0"/>
                        <a:ea typeface="Calibri" charset="0"/>
                        <a:cs typeface="Calibri" charset="0"/>
                      </a:endParaRPr>
                    </a:p>
                  </a:txBody>
                  <a:tcPr marT="18288" marB="18288"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EAF0F8"/>
                    </a:solidFill>
                  </a:tcPr>
                </a:tc>
                <a:extLst>
                  <a:ext uri="{0D108BD9-81ED-4DB2-BD59-A6C34878D82A}">
                    <a16:rowId xmlns:a16="http://schemas.microsoft.com/office/drawing/2014/main" val="10004"/>
                  </a:ext>
                </a:extLst>
              </a:tr>
              <a:tr h="292608">
                <a:tc>
                  <a:txBody>
                    <a:bodyPr/>
                    <a:lstStyle/>
                    <a:p>
                      <a:pPr marL="0" indent="0">
                        <a:buNone/>
                      </a:pPr>
                      <a:r>
                        <a:rPr lang="en-US" sz="1200" b="1" dirty="0">
                          <a:solidFill>
                            <a:srgbClr val="123B68"/>
                          </a:solidFill>
                          <a:latin typeface="Calibri" pitchFamily="34" charset="0"/>
                          <a:ea typeface="Calibri" pitchFamily="34" charset="-122"/>
                          <a:cs typeface="Calibri" pitchFamily="34" charset="-120"/>
                        </a:rPr>
                        <a:t>Support decisions</a:t>
                      </a:r>
                      <a:endParaRPr lang="en-US" sz="1200" dirty="0">
                        <a:latin typeface="Calibri" charset="0"/>
                        <a:ea typeface="Calibri" charset="0"/>
                        <a:cs typeface="Calibri" charset="0"/>
                      </a:endParaRPr>
                    </a:p>
                  </a:txBody>
                  <a:tcPr marT="18288" marB="18288"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200" dirty="0">
                          <a:solidFill>
                            <a:srgbClr val="172033"/>
                          </a:solidFill>
                          <a:latin typeface="Calibri" pitchFamily="34" charset="0"/>
                          <a:ea typeface="Calibri" pitchFamily="34" charset="-122"/>
                          <a:cs typeface="Calibri" pitchFamily="34" charset="-120"/>
                        </a:rPr>
                        <a:t>Low-stock, valuation, ledger-balance, and sales-by-day reports</a:t>
                      </a:r>
                      <a:endParaRPr lang="en-US" sz="1200" dirty="0">
                        <a:latin typeface="Calibri" charset="0"/>
                        <a:ea typeface="Calibri" charset="0"/>
                        <a:cs typeface="Calibri" charset="0"/>
                      </a:endParaRPr>
                    </a:p>
                  </a:txBody>
                  <a:tcPr marT="18288" marB="18288"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6309360" cy="548640"/>
          </a:xfrm>
          <a:prstGeom prst="rect">
            <a:avLst/>
          </a:prstGeom>
          <a:noFill/>
          <a:ln/>
        </p:spPr>
        <p:txBody>
          <a:bodyPr wrap="square" lIns="0" tIns="0" rIns="0" bIns="0" rtlCol="0" anchor="ctr"/>
          <a:lstStyle/>
          <a:p>
            <a:pPr marL="0" indent="0" algn="l">
              <a:buNone/>
            </a:pPr>
            <a:r>
              <a:rPr lang="en-US" sz="2800" b="1" dirty="0">
                <a:solidFill>
                  <a:schemeClr val="tx2"/>
                </a:solidFill>
              </a:rPr>
              <a:t>Users, permissions, and modules</a:t>
            </a:r>
            <a:endParaRPr lang="en-US" sz="2800" dirty="0"/>
          </a:p>
        </p:txBody>
      </p:sp>
      <p:sp>
        <p:nvSpPr>
          <p:cNvPr id="3" name="Role card Owner"/>
          <p:cNvSpPr/>
          <p:nvPr/>
        </p:nvSpPr>
        <p:spPr>
          <a:xfrm>
            <a:off x="457200" y="1097280"/>
            <a:ext cx="2651760" cy="2194560"/>
          </a:xfrm>
          <a:prstGeom prst="roundRect">
            <a:avLst>
              <a:gd name="adj" fmla="val 3333"/>
            </a:avLst>
          </a:prstGeom>
          <a:solidFill>
            <a:schemeClr val="bg1"/>
          </a:solidFill>
          <a:ln/>
          <a:effectLst>
            <a:outerShdw blurRad="76200" dist="25400" dir="5400000" algn="bl" rotWithShape="0">
              <a:srgbClr val="172033">
                <a:alpha val="12000"/>
              </a:srgbClr>
            </a:outerShdw>
          </a:effectLst>
        </p:spPr>
      </p:sp>
      <p:sp>
        <p:nvSpPr>
          <p:cNvPr id="4" name="Owner circle"/>
          <p:cNvSpPr/>
          <p:nvPr/>
        </p:nvSpPr>
        <p:spPr>
          <a:xfrm>
            <a:off x="640080" y="1207008"/>
            <a:ext cx="365760" cy="365760"/>
          </a:xfrm>
          <a:prstGeom prst="ellipse">
            <a:avLst/>
          </a:prstGeom>
          <a:solidFill>
            <a:schemeClr val="tx2"/>
          </a:solidFill>
          <a:ln/>
        </p:spPr>
      </p:sp>
      <p:pic>
        <p:nvPicPr>
          <p:cNvPr id="5" name="Owner icon" descr="Owner"/>
          <p:cNvPicPr>
            <a:picLocks noChangeAspect="1"/>
          </p:cNvPicPr>
          <p:nvPr/>
        </p:nvPicPr>
        <p:blipFill>
          <a:blip r:embed="rId3"/>
          <a:stretch>
            <a:fillRect/>
          </a:stretch>
        </p:blipFill>
        <p:spPr>
          <a:xfrm>
            <a:off x="731520" y="1298448"/>
            <a:ext cx="182880" cy="182880"/>
          </a:xfrm>
          <a:prstGeom prst="rect">
            <a:avLst/>
          </a:prstGeom>
        </p:spPr>
      </p:pic>
      <p:sp>
        <p:nvSpPr>
          <p:cNvPr id="6" name="Role name Owner"/>
          <p:cNvSpPr txBox="1"/>
          <p:nvPr/>
        </p:nvSpPr>
        <p:spPr>
          <a:xfrm>
            <a:off x="1143000" y="1207008"/>
            <a:ext cx="1737360" cy="365760"/>
          </a:xfrm>
          <a:prstGeom prst="rect">
            <a:avLst/>
          </a:prstGeom>
          <a:noFill/>
          <a:ln/>
        </p:spPr>
        <p:txBody>
          <a:bodyPr wrap="square" lIns="0" tIns="0" rIns="0" bIns="0" rtlCol="0" anchor="ctr"/>
          <a:lstStyle/>
          <a:p>
            <a:pPr marL="0" indent="0">
              <a:buNone/>
            </a:pPr>
            <a:r>
              <a:rPr lang="en-US" sz="1800" b="1" dirty="0">
                <a:solidFill>
                  <a:schemeClr val="tx2"/>
                </a:solidFill>
              </a:rPr>
              <a:t>Owner</a:t>
            </a:r>
            <a:endParaRPr lang="en-US" sz="1800" dirty="0"/>
          </a:p>
        </p:txBody>
      </p:sp>
      <p:sp>
        <p:nvSpPr>
          <p:cNvPr id="7" name="Label MAIN CAPABILITIES"/>
          <p:cNvSpPr txBox="1"/>
          <p:nvPr/>
        </p:nvSpPr>
        <p:spPr>
          <a:xfrm>
            <a:off x="640080" y="1691640"/>
            <a:ext cx="2286000" cy="228600"/>
          </a:xfrm>
          <a:prstGeom prst="rect">
            <a:avLst/>
          </a:prstGeom>
          <a:noFill/>
          <a:ln/>
        </p:spPr>
        <p:txBody>
          <a:bodyPr wrap="square" lIns="0" tIns="0" rIns="0" bIns="0" rtlCol="0" anchor="ctr"/>
          <a:lstStyle/>
          <a:p>
            <a:pPr marL="0" indent="0">
              <a:buNone/>
            </a:pPr>
            <a:r>
              <a:rPr lang="en-US" sz="1100" b="1" kern="0" spc="100" dirty="0">
                <a:solidFill>
                  <a:schemeClr val="accent1"/>
                </a:solidFill>
              </a:rPr>
              <a:t>MAIN CAPABILITIES</a:t>
            </a:r>
            <a:endParaRPr lang="en-US" sz="1100" dirty="0"/>
          </a:p>
        </p:txBody>
      </p:sp>
      <p:sp>
        <p:nvSpPr>
          <p:cNvPr id="8" name="Role can Owner"/>
          <p:cNvSpPr txBox="1"/>
          <p:nvPr/>
        </p:nvSpPr>
        <p:spPr>
          <a:xfrm>
            <a:off x="640080" y="1920240"/>
            <a:ext cx="2286000" cy="594360"/>
          </a:xfrm>
          <a:prstGeom prst="rect">
            <a:avLst/>
          </a:prstGeom>
          <a:noFill/>
          <a:ln/>
        </p:spPr>
        <p:txBody>
          <a:bodyPr wrap="square" lIns="0" tIns="0" rIns="0" bIns="0" rtlCol="0" anchor="t"/>
          <a:lstStyle/>
          <a:p>
            <a:pPr marL="0" indent="0">
              <a:buNone/>
            </a:pPr>
            <a:r>
              <a:rPr lang="en-US" sz="1200" dirty="0">
                <a:solidFill>
                  <a:schemeClr val="tx1"/>
                </a:solidFill>
              </a:rPr>
              <a:t>Full access; approve purchase orders; inventory valuation, ledger balance, and sales-by-day reports.</a:t>
            </a:r>
            <a:endParaRPr lang="en-US" sz="1200" dirty="0"/>
          </a:p>
        </p:txBody>
      </p:sp>
      <p:sp>
        <p:nvSpPr>
          <p:cNvPr id="9" name="Label RESTRICTED"/>
          <p:cNvSpPr txBox="1"/>
          <p:nvPr/>
        </p:nvSpPr>
        <p:spPr>
          <a:xfrm>
            <a:off x="640080" y="2560320"/>
            <a:ext cx="2286000" cy="228600"/>
          </a:xfrm>
          <a:prstGeom prst="rect">
            <a:avLst/>
          </a:prstGeom>
          <a:noFill/>
          <a:ln/>
        </p:spPr>
        <p:txBody>
          <a:bodyPr wrap="square" lIns="0" tIns="0" rIns="0" bIns="0" rtlCol="0" anchor="ctr"/>
          <a:lstStyle/>
          <a:p>
            <a:pPr marL="0" indent="0">
              <a:buNone/>
            </a:pPr>
            <a:r>
              <a:rPr lang="en-US" sz="1100" b="1" kern="0" spc="100" dirty="0">
                <a:solidFill>
                  <a:schemeClr val="accent4"/>
                </a:solidFill>
              </a:rPr>
              <a:t>RESTRICTED</a:t>
            </a:r>
            <a:endParaRPr lang="en-US" sz="1100" dirty="0"/>
          </a:p>
        </p:txBody>
      </p:sp>
      <p:sp>
        <p:nvSpPr>
          <p:cNvPr id="10" name="Role restricted Owner"/>
          <p:cNvSpPr txBox="1"/>
          <p:nvPr/>
        </p:nvSpPr>
        <p:spPr>
          <a:xfrm>
            <a:off x="640080" y="2788920"/>
            <a:ext cx="2286000" cy="457200"/>
          </a:xfrm>
          <a:prstGeom prst="rect">
            <a:avLst/>
          </a:prstGeom>
          <a:noFill/>
          <a:ln/>
        </p:spPr>
        <p:txBody>
          <a:bodyPr wrap="square" lIns="0" tIns="0" rIns="0" bIns="0" rtlCol="0" anchor="t"/>
          <a:lstStyle/>
          <a:p>
            <a:pPr marL="0" indent="0">
              <a:buNone/>
            </a:pPr>
            <a:r>
              <a:rPr lang="en-US" sz="1200" dirty="0">
                <a:solidFill>
                  <a:schemeClr val="tx1"/>
                </a:solidFill>
              </a:rPr>
              <a:t>Owner-only approval and financial oversight.</a:t>
            </a:r>
            <a:endParaRPr lang="en-US" sz="1200" dirty="0"/>
          </a:p>
        </p:txBody>
      </p:sp>
      <p:sp>
        <p:nvSpPr>
          <p:cNvPr id="11" name="Role card Manager"/>
          <p:cNvSpPr/>
          <p:nvPr/>
        </p:nvSpPr>
        <p:spPr>
          <a:xfrm>
            <a:off x="3246120" y="1097280"/>
            <a:ext cx="2651760" cy="2194560"/>
          </a:xfrm>
          <a:prstGeom prst="roundRect">
            <a:avLst>
              <a:gd name="adj" fmla="val 3333"/>
            </a:avLst>
          </a:prstGeom>
          <a:solidFill>
            <a:schemeClr val="bg1"/>
          </a:solidFill>
          <a:ln/>
          <a:effectLst>
            <a:outerShdw blurRad="76200" dist="25400" dir="5400000" algn="bl" rotWithShape="0">
              <a:srgbClr val="172033">
                <a:alpha val="12000"/>
              </a:srgbClr>
            </a:outerShdw>
          </a:effectLst>
        </p:spPr>
      </p:sp>
      <p:sp>
        <p:nvSpPr>
          <p:cNvPr id="12" name="Manager circle"/>
          <p:cNvSpPr/>
          <p:nvPr/>
        </p:nvSpPr>
        <p:spPr>
          <a:xfrm>
            <a:off x="3429000" y="1207008"/>
            <a:ext cx="365760" cy="365760"/>
          </a:xfrm>
          <a:prstGeom prst="ellipse">
            <a:avLst/>
          </a:prstGeom>
          <a:solidFill>
            <a:schemeClr val="accent1"/>
          </a:solidFill>
          <a:ln/>
        </p:spPr>
      </p:sp>
      <p:pic>
        <p:nvPicPr>
          <p:cNvPr id="13" name="Manager icon" descr="Manager"/>
          <p:cNvPicPr>
            <a:picLocks noChangeAspect="1"/>
          </p:cNvPicPr>
          <p:nvPr/>
        </p:nvPicPr>
        <p:blipFill>
          <a:blip r:embed="rId4"/>
          <a:stretch>
            <a:fillRect/>
          </a:stretch>
        </p:blipFill>
        <p:spPr>
          <a:xfrm>
            <a:off x="3520440" y="1298448"/>
            <a:ext cx="182880" cy="182880"/>
          </a:xfrm>
          <a:prstGeom prst="rect">
            <a:avLst/>
          </a:prstGeom>
        </p:spPr>
      </p:pic>
      <p:sp>
        <p:nvSpPr>
          <p:cNvPr id="14" name="Role name Manager"/>
          <p:cNvSpPr txBox="1"/>
          <p:nvPr/>
        </p:nvSpPr>
        <p:spPr>
          <a:xfrm>
            <a:off x="3931920" y="1207008"/>
            <a:ext cx="1737360" cy="365760"/>
          </a:xfrm>
          <a:prstGeom prst="rect">
            <a:avLst/>
          </a:prstGeom>
          <a:noFill/>
          <a:ln/>
        </p:spPr>
        <p:txBody>
          <a:bodyPr wrap="square" lIns="0" tIns="0" rIns="0" bIns="0" rtlCol="0" anchor="ctr"/>
          <a:lstStyle/>
          <a:p>
            <a:pPr marL="0" indent="0">
              <a:buNone/>
            </a:pPr>
            <a:r>
              <a:rPr lang="en-US" sz="1800" b="1" dirty="0">
                <a:solidFill>
                  <a:schemeClr val="tx2"/>
                </a:solidFill>
              </a:rPr>
              <a:t>Manager</a:t>
            </a:r>
            <a:endParaRPr lang="en-US" sz="1800" dirty="0"/>
          </a:p>
        </p:txBody>
      </p:sp>
      <p:sp>
        <p:nvSpPr>
          <p:cNvPr id="15" name="Label MAIN CAPABILITIES"/>
          <p:cNvSpPr txBox="1"/>
          <p:nvPr/>
        </p:nvSpPr>
        <p:spPr>
          <a:xfrm>
            <a:off x="3429000" y="1691640"/>
            <a:ext cx="2286000" cy="228600"/>
          </a:xfrm>
          <a:prstGeom prst="rect">
            <a:avLst/>
          </a:prstGeom>
          <a:noFill/>
          <a:ln/>
        </p:spPr>
        <p:txBody>
          <a:bodyPr wrap="square" lIns="0" tIns="0" rIns="0" bIns="0" rtlCol="0" anchor="ctr"/>
          <a:lstStyle/>
          <a:p>
            <a:pPr marL="0" indent="0">
              <a:buNone/>
            </a:pPr>
            <a:r>
              <a:rPr lang="en-US" sz="1100" b="1" kern="0" spc="100" dirty="0">
                <a:solidFill>
                  <a:schemeClr val="accent1"/>
                </a:solidFill>
              </a:rPr>
              <a:t>MAIN CAPABILITIES</a:t>
            </a:r>
            <a:endParaRPr lang="en-US" sz="1100" dirty="0"/>
          </a:p>
        </p:txBody>
      </p:sp>
      <p:sp>
        <p:nvSpPr>
          <p:cNvPr id="16" name="Role can Manager"/>
          <p:cNvSpPr txBox="1"/>
          <p:nvPr/>
        </p:nvSpPr>
        <p:spPr>
          <a:xfrm>
            <a:off x="3429000" y="1920240"/>
            <a:ext cx="2286000" cy="594360"/>
          </a:xfrm>
          <a:prstGeom prst="rect">
            <a:avLst/>
          </a:prstGeom>
          <a:noFill/>
          <a:ln/>
        </p:spPr>
        <p:txBody>
          <a:bodyPr wrap="square" lIns="0" tIns="0" rIns="0" bIns="0" rtlCol="0" anchor="t"/>
          <a:lstStyle/>
          <a:p>
            <a:pPr marL="0" indent="0">
              <a:buNone/>
            </a:pPr>
            <a:r>
              <a:rPr lang="en-US" sz="1200" dirty="0">
                <a:solidFill>
                  <a:schemeClr val="tx1"/>
                </a:solidFill>
              </a:rPr>
              <a:t>Products, categories, suppliers, purchase orders, receiving, adjustments, and low-stock report.</a:t>
            </a:r>
            <a:endParaRPr lang="en-US" sz="1200" dirty="0"/>
          </a:p>
        </p:txBody>
      </p:sp>
      <p:sp>
        <p:nvSpPr>
          <p:cNvPr id="17" name="Label RESTRICTED"/>
          <p:cNvSpPr txBox="1"/>
          <p:nvPr/>
        </p:nvSpPr>
        <p:spPr>
          <a:xfrm>
            <a:off x="3429000" y="2560320"/>
            <a:ext cx="2286000" cy="228600"/>
          </a:xfrm>
          <a:prstGeom prst="rect">
            <a:avLst/>
          </a:prstGeom>
          <a:noFill/>
          <a:ln/>
        </p:spPr>
        <p:txBody>
          <a:bodyPr wrap="square" lIns="0" tIns="0" rIns="0" bIns="0" rtlCol="0" anchor="ctr"/>
          <a:lstStyle/>
          <a:p>
            <a:pPr marL="0" indent="0">
              <a:buNone/>
            </a:pPr>
            <a:r>
              <a:rPr lang="en-US" sz="1100" b="1" kern="0" spc="100" dirty="0">
                <a:solidFill>
                  <a:schemeClr val="accent4"/>
                </a:solidFill>
              </a:rPr>
              <a:t>RESTRICTED</a:t>
            </a:r>
            <a:endParaRPr lang="en-US" sz="1100" dirty="0"/>
          </a:p>
        </p:txBody>
      </p:sp>
      <p:sp>
        <p:nvSpPr>
          <p:cNvPr id="18" name="Role restricted Manager"/>
          <p:cNvSpPr txBox="1"/>
          <p:nvPr/>
        </p:nvSpPr>
        <p:spPr>
          <a:xfrm>
            <a:off x="3429000" y="2788920"/>
            <a:ext cx="2286000" cy="457200"/>
          </a:xfrm>
          <a:prstGeom prst="rect">
            <a:avLst/>
          </a:prstGeom>
          <a:noFill/>
          <a:ln/>
        </p:spPr>
        <p:txBody>
          <a:bodyPr wrap="square" lIns="0" tIns="0" rIns="0" bIns="0" rtlCol="0" anchor="t"/>
          <a:lstStyle/>
          <a:p>
            <a:pPr marL="0" indent="0">
              <a:buNone/>
            </a:pPr>
            <a:r>
              <a:rPr lang="en-US" sz="1200" dirty="0">
                <a:solidFill>
                  <a:schemeClr val="tx1"/>
                </a:solidFill>
              </a:rPr>
              <a:t>Cannot approve orders or view Owner-only financial reports.</a:t>
            </a:r>
            <a:endParaRPr lang="en-US" sz="1200" dirty="0"/>
          </a:p>
        </p:txBody>
      </p:sp>
      <p:sp>
        <p:nvSpPr>
          <p:cNvPr id="19" name="Role card Staff"/>
          <p:cNvSpPr/>
          <p:nvPr/>
        </p:nvSpPr>
        <p:spPr>
          <a:xfrm>
            <a:off x="6035040" y="1097280"/>
            <a:ext cx="2651760" cy="2194560"/>
          </a:xfrm>
          <a:prstGeom prst="roundRect">
            <a:avLst>
              <a:gd name="adj" fmla="val 3333"/>
            </a:avLst>
          </a:prstGeom>
          <a:solidFill>
            <a:schemeClr val="bg1"/>
          </a:solidFill>
          <a:ln/>
          <a:effectLst>
            <a:outerShdw blurRad="76200" dist="25400" dir="5400000" algn="bl" rotWithShape="0">
              <a:srgbClr val="172033">
                <a:alpha val="12000"/>
              </a:srgbClr>
            </a:outerShdw>
          </a:effectLst>
        </p:spPr>
      </p:sp>
      <p:sp>
        <p:nvSpPr>
          <p:cNvPr id="20" name="Staff circle"/>
          <p:cNvSpPr/>
          <p:nvPr/>
        </p:nvSpPr>
        <p:spPr>
          <a:xfrm>
            <a:off x="6217920" y="1207008"/>
            <a:ext cx="365760" cy="365760"/>
          </a:xfrm>
          <a:prstGeom prst="ellipse">
            <a:avLst/>
          </a:prstGeom>
          <a:solidFill>
            <a:schemeClr val="accent3"/>
          </a:solidFill>
          <a:ln/>
        </p:spPr>
      </p:sp>
      <p:pic>
        <p:nvPicPr>
          <p:cNvPr id="21" name="Staff icon" descr="Staff"/>
          <p:cNvPicPr>
            <a:picLocks noChangeAspect="1"/>
          </p:cNvPicPr>
          <p:nvPr/>
        </p:nvPicPr>
        <p:blipFill>
          <a:blip r:embed="rId5"/>
          <a:stretch>
            <a:fillRect/>
          </a:stretch>
        </p:blipFill>
        <p:spPr>
          <a:xfrm>
            <a:off x="6309360" y="1298448"/>
            <a:ext cx="182880" cy="182880"/>
          </a:xfrm>
          <a:prstGeom prst="rect">
            <a:avLst/>
          </a:prstGeom>
        </p:spPr>
      </p:pic>
      <p:sp>
        <p:nvSpPr>
          <p:cNvPr id="22" name="Role name Staff"/>
          <p:cNvSpPr txBox="1"/>
          <p:nvPr/>
        </p:nvSpPr>
        <p:spPr>
          <a:xfrm>
            <a:off x="6720840" y="1207008"/>
            <a:ext cx="1737360" cy="365760"/>
          </a:xfrm>
          <a:prstGeom prst="rect">
            <a:avLst/>
          </a:prstGeom>
          <a:noFill/>
          <a:ln/>
        </p:spPr>
        <p:txBody>
          <a:bodyPr wrap="square" lIns="0" tIns="0" rIns="0" bIns="0" rtlCol="0" anchor="ctr"/>
          <a:lstStyle/>
          <a:p>
            <a:pPr marL="0" indent="0">
              <a:buNone/>
            </a:pPr>
            <a:r>
              <a:rPr lang="en-US" sz="1800" b="1" dirty="0">
                <a:solidFill>
                  <a:schemeClr val="tx2"/>
                </a:solidFill>
              </a:rPr>
              <a:t>Staff</a:t>
            </a:r>
            <a:endParaRPr lang="en-US" sz="1800" dirty="0"/>
          </a:p>
        </p:txBody>
      </p:sp>
      <p:sp>
        <p:nvSpPr>
          <p:cNvPr id="23" name="Label MAIN CAPABILITIES"/>
          <p:cNvSpPr txBox="1"/>
          <p:nvPr/>
        </p:nvSpPr>
        <p:spPr>
          <a:xfrm>
            <a:off x="6217920" y="1691640"/>
            <a:ext cx="2286000" cy="228600"/>
          </a:xfrm>
          <a:prstGeom prst="rect">
            <a:avLst/>
          </a:prstGeom>
          <a:noFill/>
          <a:ln/>
        </p:spPr>
        <p:txBody>
          <a:bodyPr wrap="square" lIns="0" tIns="0" rIns="0" bIns="0" rtlCol="0" anchor="ctr"/>
          <a:lstStyle/>
          <a:p>
            <a:pPr marL="0" indent="0">
              <a:buNone/>
            </a:pPr>
            <a:r>
              <a:rPr lang="en-US" sz="1100" b="1" kern="0" spc="100" dirty="0">
                <a:solidFill>
                  <a:schemeClr val="accent1"/>
                </a:solidFill>
              </a:rPr>
              <a:t>MAIN CAPABILITIES</a:t>
            </a:r>
            <a:endParaRPr lang="en-US" sz="1100" dirty="0"/>
          </a:p>
        </p:txBody>
      </p:sp>
      <p:sp>
        <p:nvSpPr>
          <p:cNvPr id="24" name="Role can Staff"/>
          <p:cNvSpPr txBox="1"/>
          <p:nvPr/>
        </p:nvSpPr>
        <p:spPr>
          <a:xfrm>
            <a:off x="6217920" y="1920240"/>
            <a:ext cx="2286000" cy="594360"/>
          </a:xfrm>
          <a:prstGeom prst="rect">
            <a:avLst/>
          </a:prstGeom>
          <a:noFill/>
          <a:ln/>
        </p:spPr>
        <p:txBody>
          <a:bodyPr wrap="square" lIns="0" tIns="0" rIns="0" bIns="0" rtlCol="0" anchor="t"/>
          <a:lstStyle/>
          <a:p>
            <a:pPr marL="0" indent="0">
              <a:buNone/>
            </a:pPr>
            <a:r>
              <a:rPr lang="en-US" sz="1200" dirty="0">
                <a:solidFill>
                  <a:schemeClr val="tx1"/>
                </a:solidFill>
              </a:rPr>
              <a:t>Browse products and stock; create sales; view their own sales.</a:t>
            </a:r>
            <a:endParaRPr lang="en-US" sz="1200" dirty="0"/>
          </a:p>
        </p:txBody>
      </p:sp>
      <p:sp>
        <p:nvSpPr>
          <p:cNvPr id="25" name="Label RESTRICTED"/>
          <p:cNvSpPr txBox="1"/>
          <p:nvPr/>
        </p:nvSpPr>
        <p:spPr>
          <a:xfrm>
            <a:off x="6217920" y="2560320"/>
            <a:ext cx="2286000" cy="228600"/>
          </a:xfrm>
          <a:prstGeom prst="rect">
            <a:avLst/>
          </a:prstGeom>
          <a:noFill/>
          <a:ln/>
        </p:spPr>
        <p:txBody>
          <a:bodyPr wrap="square" lIns="0" tIns="0" rIns="0" bIns="0" rtlCol="0" anchor="ctr"/>
          <a:lstStyle/>
          <a:p>
            <a:pPr marL="0" indent="0">
              <a:buNone/>
            </a:pPr>
            <a:r>
              <a:rPr lang="en-US" sz="1100" b="1" kern="0" spc="100" dirty="0">
                <a:solidFill>
                  <a:schemeClr val="accent4"/>
                </a:solidFill>
              </a:rPr>
              <a:t>RESTRICTED</a:t>
            </a:r>
            <a:endParaRPr lang="en-US" sz="1100" dirty="0"/>
          </a:p>
        </p:txBody>
      </p:sp>
      <p:sp>
        <p:nvSpPr>
          <p:cNvPr id="26" name="Role restricted Staff"/>
          <p:cNvSpPr txBox="1"/>
          <p:nvPr/>
        </p:nvSpPr>
        <p:spPr>
          <a:xfrm>
            <a:off x="6217920" y="2788920"/>
            <a:ext cx="2286000" cy="457200"/>
          </a:xfrm>
          <a:prstGeom prst="rect">
            <a:avLst/>
          </a:prstGeom>
          <a:noFill/>
          <a:ln/>
        </p:spPr>
        <p:txBody>
          <a:bodyPr wrap="square" lIns="0" tIns="0" rIns="0" bIns="0" rtlCol="0" anchor="t"/>
          <a:lstStyle/>
          <a:p>
            <a:pPr marL="0" indent="0">
              <a:buNone/>
            </a:pPr>
            <a:r>
              <a:rPr lang="en-US" sz="1200" dirty="0">
                <a:solidFill>
                  <a:schemeClr val="tx1"/>
                </a:solidFill>
              </a:rPr>
              <a:t>Cannot manage catalog/purchasing or access other users’ sales.</a:t>
            </a:r>
            <a:endParaRPr lang="en-US" sz="1200" dirty="0"/>
          </a:p>
        </p:txBody>
      </p:sp>
      <p:sp>
        <p:nvSpPr>
          <p:cNvPr id="27" name="Label APPLICATION AREAS"/>
          <p:cNvSpPr txBox="1"/>
          <p:nvPr/>
        </p:nvSpPr>
        <p:spPr>
          <a:xfrm>
            <a:off x="457200" y="3401568"/>
            <a:ext cx="3657600" cy="228600"/>
          </a:xfrm>
          <a:prstGeom prst="rect">
            <a:avLst/>
          </a:prstGeom>
          <a:noFill/>
          <a:ln/>
        </p:spPr>
        <p:txBody>
          <a:bodyPr wrap="square" lIns="0" tIns="0" rIns="0" bIns="0" rtlCol="0" anchor="ctr"/>
          <a:lstStyle/>
          <a:p>
            <a:pPr marL="0" indent="0">
              <a:buNone/>
            </a:pPr>
            <a:r>
              <a:rPr lang="en-US" sz="1100" b="1" kern="0" spc="100" dirty="0">
                <a:solidFill>
                  <a:schemeClr val="tx2"/>
                </a:solidFill>
              </a:rPr>
              <a:t>APPLICATION AREAS</a:t>
            </a:r>
            <a:endParaRPr lang="en-US" sz="1100" dirty="0"/>
          </a:p>
        </p:txBody>
      </p:sp>
      <p:sp>
        <p:nvSpPr>
          <p:cNvPr id="28" name="Area chip Dashboard"/>
          <p:cNvSpPr/>
          <p:nvPr/>
        </p:nvSpPr>
        <p:spPr>
          <a:xfrm>
            <a:off x="457200" y="3648456"/>
            <a:ext cx="157734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txBody>
          <a:bodyPr wrap="square" lIns="0" tIns="0" rIns="0" bIns="0" rtlCol="0" anchor="ctr"/>
          <a:lstStyle/>
          <a:p>
            <a:pPr marL="0" indent="0" algn="ctr">
              <a:buNone/>
            </a:pPr>
            <a:r>
              <a:rPr lang="en-US" sz="1200" b="1" dirty="0">
                <a:solidFill>
                  <a:schemeClr val="tx2"/>
                </a:solidFill>
              </a:rPr>
              <a:t>Dashboard</a:t>
            </a:r>
            <a:endParaRPr lang="en-US" sz="1200" dirty="0"/>
          </a:p>
        </p:txBody>
      </p:sp>
      <p:sp>
        <p:nvSpPr>
          <p:cNvPr id="29" name="Area chip Products"/>
          <p:cNvSpPr/>
          <p:nvPr/>
        </p:nvSpPr>
        <p:spPr>
          <a:xfrm>
            <a:off x="2125980" y="3648456"/>
            <a:ext cx="157734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txBody>
          <a:bodyPr wrap="square" lIns="0" tIns="0" rIns="0" bIns="0" rtlCol="0" anchor="ctr"/>
          <a:lstStyle/>
          <a:p>
            <a:pPr marL="0" indent="0" algn="ctr">
              <a:buNone/>
            </a:pPr>
            <a:r>
              <a:rPr lang="en-US" sz="1200" b="1" dirty="0">
                <a:solidFill>
                  <a:schemeClr val="tx2"/>
                </a:solidFill>
              </a:rPr>
              <a:t>Products</a:t>
            </a:r>
            <a:endParaRPr lang="en-US" sz="1200" dirty="0"/>
          </a:p>
        </p:txBody>
      </p:sp>
      <p:sp>
        <p:nvSpPr>
          <p:cNvPr id="30" name="Area chip Categories"/>
          <p:cNvSpPr/>
          <p:nvPr/>
        </p:nvSpPr>
        <p:spPr>
          <a:xfrm>
            <a:off x="3794760" y="3648456"/>
            <a:ext cx="157734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txBody>
          <a:bodyPr wrap="square" lIns="0" tIns="0" rIns="0" bIns="0" rtlCol="0" anchor="ctr"/>
          <a:lstStyle/>
          <a:p>
            <a:pPr marL="0" indent="0" algn="ctr">
              <a:buNone/>
            </a:pPr>
            <a:r>
              <a:rPr lang="en-US" sz="1200" b="1" dirty="0">
                <a:solidFill>
                  <a:schemeClr val="tx2"/>
                </a:solidFill>
              </a:rPr>
              <a:t>Categories</a:t>
            </a:r>
            <a:endParaRPr lang="en-US" sz="1200" dirty="0"/>
          </a:p>
        </p:txBody>
      </p:sp>
      <p:sp>
        <p:nvSpPr>
          <p:cNvPr id="31" name="Area chip Suppliers"/>
          <p:cNvSpPr/>
          <p:nvPr/>
        </p:nvSpPr>
        <p:spPr>
          <a:xfrm>
            <a:off x="5463540" y="3648456"/>
            <a:ext cx="157734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txBody>
          <a:bodyPr wrap="square" lIns="0" tIns="0" rIns="0" bIns="0" rtlCol="0" anchor="ctr"/>
          <a:lstStyle/>
          <a:p>
            <a:pPr marL="0" indent="0" algn="ctr">
              <a:buNone/>
            </a:pPr>
            <a:r>
              <a:rPr lang="en-US" sz="1200" b="1" dirty="0">
                <a:solidFill>
                  <a:schemeClr val="tx2"/>
                </a:solidFill>
              </a:rPr>
              <a:t>Suppliers</a:t>
            </a:r>
            <a:endParaRPr lang="en-US" sz="1200" dirty="0"/>
          </a:p>
        </p:txBody>
      </p:sp>
      <p:sp>
        <p:nvSpPr>
          <p:cNvPr id="32" name="Area chip Purchase orders"/>
          <p:cNvSpPr/>
          <p:nvPr/>
        </p:nvSpPr>
        <p:spPr>
          <a:xfrm>
            <a:off x="7132320" y="3648456"/>
            <a:ext cx="157734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txBody>
          <a:bodyPr wrap="square" lIns="0" tIns="0" rIns="0" bIns="0" rtlCol="0" anchor="ctr"/>
          <a:lstStyle/>
          <a:p>
            <a:pPr marL="0" indent="0" algn="ctr">
              <a:buNone/>
            </a:pPr>
            <a:r>
              <a:rPr lang="en-US" sz="1200" b="1" dirty="0">
                <a:solidFill>
                  <a:schemeClr val="tx2"/>
                </a:solidFill>
              </a:rPr>
              <a:t>Purchase orders</a:t>
            </a:r>
            <a:endParaRPr lang="en-US" sz="1200" dirty="0"/>
          </a:p>
        </p:txBody>
      </p:sp>
      <p:sp>
        <p:nvSpPr>
          <p:cNvPr id="33" name="Area chip Goods receiving"/>
          <p:cNvSpPr/>
          <p:nvPr/>
        </p:nvSpPr>
        <p:spPr>
          <a:xfrm>
            <a:off x="457200" y="3995928"/>
            <a:ext cx="157734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txBody>
          <a:bodyPr wrap="square" lIns="0" tIns="0" rIns="0" bIns="0" rtlCol="0" anchor="ctr"/>
          <a:lstStyle/>
          <a:p>
            <a:pPr marL="0" indent="0" algn="ctr">
              <a:buNone/>
            </a:pPr>
            <a:r>
              <a:rPr lang="en-US" sz="1200" b="1" dirty="0">
                <a:solidFill>
                  <a:schemeClr val="tx2"/>
                </a:solidFill>
              </a:rPr>
              <a:t>Goods receiving</a:t>
            </a:r>
            <a:endParaRPr lang="en-US" sz="1200" dirty="0"/>
          </a:p>
        </p:txBody>
      </p:sp>
      <p:sp>
        <p:nvSpPr>
          <p:cNvPr id="34" name="Area chip Point of sale"/>
          <p:cNvSpPr/>
          <p:nvPr/>
        </p:nvSpPr>
        <p:spPr>
          <a:xfrm>
            <a:off x="2125980" y="3995928"/>
            <a:ext cx="157734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txBody>
          <a:bodyPr wrap="square" lIns="0" tIns="0" rIns="0" bIns="0" rtlCol="0" anchor="ctr"/>
          <a:lstStyle/>
          <a:p>
            <a:pPr marL="0" indent="0" algn="ctr">
              <a:buNone/>
            </a:pPr>
            <a:r>
              <a:rPr lang="en-US" sz="1200" b="1" dirty="0">
                <a:solidFill>
                  <a:schemeClr val="tx2"/>
                </a:solidFill>
              </a:rPr>
              <a:t>Point of sale</a:t>
            </a:r>
            <a:endParaRPr lang="en-US" sz="1200" dirty="0"/>
          </a:p>
        </p:txBody>
      </p:sp>
      <p:sp>
        <p:nvSpPr>
          <p:cNvPr id="35" name="Area chip Stock movements"/>
          <p:cNvSpPr/>
          <p:nvPr/>
        </p:nvSpPr>
        <p:spPr>
          <a:xfrm>
            <a:off x="3794760" y="3995928"/>
            <a:ext cx="157734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txBody>
          <a:bodyPr wrap="square" lIns="0" tIns="0" rIns="0" bIns="0" rtlCol="0" anchor="ctr"/>
          <a:lstStyle/>
          <a:p>
            <a:pPr marL="0" indent="0" algn="ctr">
              <a:buNone/>
            </a:pPr>
            <a:r>
              <a:rPr lang="en-US" sz="1200" b="1" dirty="0">
                <a:solidFill>
                  <a:schemeClr val="tx2"/>
                </a:solidFill>
              </a:rPr>
              <a:t>Stock movements</a:t>
            </a:r>
            <a:endParaRPr lang="en-US" sz="1200" dirty="0"/>
          </a:p>
        </p:txBody>
      </p:sp>
      <p:sp>
        <p:nvSpPr>
          <p:cNvPr id="36" name="Area chip Reports"/>
          <p:cNvSpPr/>
          <p:nvPr/>
        </p:nvSpPr>
        <p:spPr>
          <a:xfrm>
            <a:off x="5463540" y="3995928"/>
            <a:ext cx="157734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txBody>
          <a:bodyPr wrap="square" lIns="0" tIns="0" rIns="0" bIns="0" rtlCol="0" anchor="ctr"/>
          <a:lstStyle/>
          <a:p>
            <a:pPr marL="0" indent="0" algn="ctr">
              <a:buNone/>
            </a:pPr>
            <a:r>
              <a:rPr lang="en-US" sz="1200" b="1" dirty="0">
                <a:solidFill>
                  <a:schemeClr val="tx2"/>
                </a:solidFill>
              </a:rPr>
              <a:t>Reports</a:t>
            </a:r>
            <a:endParaRPr lang="en-US" sz="1200" dirty="0"/>
          </a:p>
        </p:txBody>
      </p:sp>
      <p:sp>
        <p:nvSpPr>
          <p:cNvPr id="37" name="Enforcement note"/>
          <p:cNvSpPr txBox="1"/>
          <p:nvPr/>
        </p:nvSpPr>
        <p:spPr>
          <a:xfrm>
            <a:off x="457200" y="4407408"/>
            <a:ext cx="8229600" cy="228600"/>
          </a:xfrm>
          <a:prstGeom prst="rect">
            <a:avLst/>
          </a:prstGeom>
          <a:noFill/>
          <a:ln/>
        </p:spPr>
        <p:txBody>
          <a:bodyPr wrap="square" lIns="0" tIns="0" rIns="0" bIns="0" rtlCol="0" anchor="t"/>
          <a:lstStyle/>
          <a:p>
            <a:pPr marL="0" indent="0">
              <a:buNone/>
            </a:pPr>
            <a:r>
              <a:rPr lang="en-US" sz="1200" i="1" dirty="0">
                <a:solidFill>
                  <a:schemeClr val="accent5"/>
                </a:solidFill>
              </a:rPr>
              <a:t>Public registration always creates Staff. React guards pages for experience; Flask re-checks permissions at the API.</a:t>
            </a:r>
            <a:endParaRPr lang="en-US" sz="1200" dirty="0"/>
          </a:p>
        </p:txBody>
      </p:sp>
      <p:sp>
        <p:nvSpPr>
          <p:cNvPr id="38"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6309360" cy="548640"/>
          </a:xfrm>
          <a:prstGeom prst="rect">
            <a:avLst/>
          </a:prstGeom>
          <a:noFill/>
          <a:ln/>
        </p:spPr>
        <p:txBody>
          <a:bodyPr wrap="square" lIns="0" tIns="0" rIns="0" bIns="0" rtlCol="0" anchor="ctr"/>
          <a:lstStyle/>
          <a:p>
            <a:pPr marL="0" indent="0" algn="l">
              <a:buNone/>
            </a:pPr>
            <a:r>
              <a:rPr lang="en-US" sz="2800" b="1" dirty="0">
                <a:solidFill>
                  <a:schemeClr val="tx2"/>
                </a:solidFill>
              </a:rPr>
              <a:t>End-to-end business workflow</a:t>
            </a:r>
            <a:endParaRPr lang="en-US" sz="2800" dirty="0"/>
          </a:p>
        </p:txBody>
      </p:sp>
      <p:sp>
        <p:nvSpPr>
          <p:cNvPr id="3" name="A. Replenish inventory circle"/>
          <p:cNvSpPr/>
          <p:nvPr/>
        </p:nvSpPr>
        <p:spPr>
          <a:xfrm>
            <a:off x="457200" y="1097280"/>
            <a:ext cx="329184" cy="329184"/>
          </a:xfrm>
          <a:prstGeom prst="ellipse">
            <a:avLst/>
          </a:prstGeom>
          <a:solidFill>
            <a:schemeClr val="tx2"/>
          </a:solidFill>
          <a:ln/>
        </p:spPr>
      </p:sp>
      <p:pic>
        <p:nvPicPr>
          <p:cNvPr id="4" name="A. Replenish inventory icon" descr="A. Replenish inventory"/>
          <p:cNvPicPr>
            <a:picLocks noChangeAspect="1"/>
          </p:cNvPicPr>
          <p:nvPr/>
        </p:nvPicPr>
        <p:blipFill>
          <a:blip r:embed="rId3"/>
          <a:stretch>
            <a:fillRect/>
          </a:stretch>
        </p:blipFill>
        <p:spPr>
          <a:xfrm>
            <a:off x="539496" y="1179576"/>
            <a:ext cx="164592" cy="164592"/>
          </a:xfrm>
          <a:prstGeom prst="rect">
            <a:avLst/>
          </a:prstGeom>
        </p:spPr>
      </p:pic>
      <p:sp>
        <p:nvSpPr>
          <p:cNvPr id="5" name="Flow head A. Replenish inventory"/>
          <p:cNvSpPr txBox="1"/>
          <p:nvPr/>
        </p:nvSpPr>
        <p:spPr>
          <a:xfrm>
            <a:off x="914400" y="1097280"/>
            <a:ext cx="3474720" cy="329184"/>
          </a:xfrm>
          <a:prstGeom prst="rect">
            <a:avLst/>
          </a:prstGeom>
          <a:noFill/>
          <a:ln/>
        </p:spPr>
        <p:txBody>
          <a:bodyPr wrap="square" lIns="0" tIns="0" rIns="0" bIns="0" rtlCol="0" anchor="ctr"/>
          <a:lstStyle/>
          <a:p>
            <a:pPr marL="0" indent="0">
              <a:buNone/>
            </a:pPr>
            <a:r>
              <a:rPr lang="en-US" sz="1600" b="1" dirty="0">
                <a:solidFill>
                  <a:schemeClr val="tx2"/>
                </a:solidFill>
              </a:rPr>
              <a:t>A. Replenish inventory</a:t>
            </a:r>
            <a:endParaRPr lang="en-US" sz="1600" dirty="0"/>
          </a:p>
        </p:txBody>
      </p:sp>
      <p:sp>
        <p:nvSpPr>
          <p:cNvPr id="6" name="Step Create draft"/>
          <p:cNvSpPr/>
          <p:nvPr/>
        </p:nvSpPr>
        <p:spPr>
          <a:xfrm>
            <a:off x="457200" y="1481328"/>
            <a:ext cx="402336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sp>
      <p:sp>
        <p:nvSpPr>
          <p:cNvPr id="7" name="Step number 1"/>
          <p:cNvSpPr/>
          <p:nvPr/>
        </p:nvSpPr>
        <p:spPr>
          <a:xfrm>
            <a:off x="521208" y="1517904"/>
            <a:ext cx="219456" cy="219456"/>
          </a:xfrm>
          <a:prstGeom prst="ellipse">
            <a:avLst/>
          </a:prstGeom>
          <a:solidFill>
            <a:schemeClr val="accent1"/>
          </a:solid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8" name="Step text Create draft"/>
          <p:cNvSpPr txBox="1"/>
          <p:nvPr/>
        </p:nvSpPr>
        <p:spPr>
          <a:xfrm>
            <a:off x="841248" y="1481328"/>
            <a:ext cx="3566160" cy="292608"/>
          </a:xfrm>
          <a:prstGeom prst="rect">
            <a:avLst/>
          </a:prstGeom>
          <a:noFill/>
          <a:ln/>
        </p:spPr>
        <p:txBody>
          <a:bodyPr wrap="square" lIns="0" tIns="0" rIns="0" bIns="0" rtlCol="0" anchor="ctr"/>
          <a:lstStyle/>
          <a:p>
            <a:pPr marL="0" indent="0">
              <a:buNone/>
            </a:pPr>
            <a:r>
              <a:rPr lang="en-US" sz="1300" b="1" dirty="0">
                <a:solidFill>
                  <a:schemeClr val="tx1"/>
                </a:solidFill>
              </a:rPr>
              <a:t>Create draft</a:t>
            </a:r>
            <a:endParaRPr lang="en-US" sz="1300" dirty="0"/>
          </a:p>
        </p:txBody>
      </p:sp>
      <p:sp>
        <p:nvSpPr>
          <p:cNvPr id="9" name="Step Owner approves"/>
          <p:cNvSpPr/>
          <p:nvPr/>
        </p:nvSpPr>
        <p:spPr>
          <a:xfrm>
            <a:off x="457200" y="1819656"/>
            <a:ext cx="402336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sp>
      <p:sp>
        <p:nvSpPr>
          <p:cNvPr id="10" name="Step number 2"/>
          <p:cNvSpPr/>
          <p:nvPr/>
        </p:nvSpPr>
        <p:spPr>
          <a:xfrm>
            <a:off x="521208" y="1856232"/>
            <a:ext cx="219456" cy="219456"/>
          </a:xfrm>
          <a:prstGeom prst="ellipse">
            <a:avLst/>
          </a:prstGeom>
          <a:solidFill>
            <a:schemeClr val="accent1"/>
          </a:solid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11" name="Step text Owner approves"/>
          <p:cNvSpPr txBox="1"/>
          <p:nvPr/>
        </p:nvSpPr>
        <p:spPr>
          <a:xfrm>
            <a:off x="841248" y="1819656"/>
            <a:ext cx="3566160" cy="292608"/>
          </a:xfrm>
          <a:prstGeom prst="rect">
            <a:avLst/>
          </a:prstGeom>
          <a:noFill/>
          <a:ln/>
        </p:spPr>
        <p:txBody>
          <a:bodyPr wrap="square" lIns="0" tIns="0" rIns="0" bIns="0" rtlCol="0" anchor="ctr"/>
          <a:lstStyle/>
          <a:p>
            <a:pPr marL="0" indent="0">
              <a:buNone/>
            </a:pPr>
            <a:r>
              <a:rPr lang="en-US" sz="1300" b="1" dirty="0">
                <a:solidFill>
                  <a:schemeClr val="tx1"/>
                </a:solidFill>
              </a:rPr>
              <a:t>Owner approves</a:t>
            </a:r>
            <a:endParaRPr lang="en-US" sz="1300" dirty="0"/>
          </a:p>
        </p:txBody>
      </p:sp>
      <p:sp>
        <p:nvSpPr>
          <p:cNvPr id="12" name="Step Receive goods"/>
          <p:cNvSpPr/>
          <p:nvPr/>
        </p:nvSpPr>
        <p:spPr>
          <a:xfrm>
            <a:off x="457200" y="2157984"/>
            <a:ext cx="402336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sp>
      <p:sp>
        <p:nvSpPr>
          <p:cNvPr id="13" name="Step number 3"/>
          <p:cNvSpPr/>
          <p:nvPr/>
        </p:nvSpPr>
        <p:spPr>
          <a:xfrm>
            <a:off x="521208" y="2194560"/>
            <a:ext cx="219456" cy="219456"/>
          </a:xfrm>
          <a:prstGeom prst="ellipse">
            <a:avLst/>
          </a:prstGeom>
          <a:solidFill>
            <a:schemeClr val="accent1"/>
          </a:solid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14" name="Step text Receive goods"/>
          <p:cNvSpPr txBox="1"/>
          <p:nvPr/>
        </p:nvSpPr>
        <p:spPr>
          <a:xfrm>
            <a:off x="841248" y="2157984"/>
            <a:ext cx="3566160" cy="292608"/>
          </a:xfrm>
          <a:prstGeom prst="rect">
            <a:avLst/>
          </a:prstGeom>
          <a:noFill/>
          <a:ln/>
        </p:spPr>
        <p:txBody>
          <a:bodyPr wrap="square" lIns="0" tIns="0" rIns="0" bIns="0" rtlCol="0" anchor="ctr"/>
          <a:lstStyle/>
          <a:p>
            <a:pPr marL="0" indent="0">
              <a:buNone/>
            </a:pPr>
            <a:r>
              <a:rPr lang="en-US" sz="1300" b="1" dirty="0">
                <a:solidFill>
                  <a:schemeClr val="tx1"/>
                </a:solidFill>
              </a:rPr>
              <a:t>Receive goods</a:t>
            </a:r>
            <a:endParaRPr lang="en-US" sz="1300" dirty="0"/>
          </a:p>
        </p:txBody>
      </p:sp>
      <p:sp>
        <p:nvSpPr>
          <p:cNvPr id="15" name="Step Stock increases"/>
          <p:cNvSpPr/>
          <p:nvPr/>
        </p:nvSpPr>
        <p:spPr>
          <a:xfrm>
            <a:off x="457200" y="2496312"/>
            <a:ext cx="4023360" cy="292608"/>
          </a:xfrm>
          <a:prstGeom prst="roundRect">
            <a:avLst>
              <a:gd name="adj" fmla="val 18750"/>
            </a:avLst>
          </a:prstGeom>
          <a:solidFill>
            <a:schemeClr val="accent3"/>
          </a:solidFill>
          <a:ln/>
          <a:effectLst>
            <a:outerShdw blurRad="76200" dist="25400" dir="5400000" algn="bl" rotWithShape="0">
              <a:srgbClr val="172033">
                <a:alpha val="12000"/>
              </a:srgbClr>
            </a:outerShdw>
          </a:effectLst>
        </p:spPr>
      </p:sp>
      <p:sp>
        <p:nvSpPr>
          <p:cNvPr id="16" name="Step number 4"/>
          <p:cNvSpPr/>
          <p:nvPr/>
        </p:nvSpPr>
        <p:spPr>
          <a:xfrm>
            <a:off x="521208" y="2532888"/>
            <a:ext cx="219456" cy="219456"/>
          </a:xfrm>
          <a:prstGeom prst="ellipse">
            <a:avLst/>
          </a:prstGeom>
          <a:solidFill>
            <a:schemeClr val="tx2"/>
          </a:solid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17" name="Step text Stock increases"/>
          <p:cNvSpPr txBox="1"/>
          <p:nvPr/>
        </p:nvSpPr>
        <p:spPr>
          <a:xfrm>
            <a:off x="841248" y="2496312"/>
            <a:ext cx="3566160" cy="292608"/>
          </a:xfrm>
          <a:prstGeom prst="rect">
            <a:avLst/>
          </a:prstGeom>
          <a:noFill/>
          <a:ln/>
        </p:spPr>
        <p:txBody>
          <a:bodyPr wrap="square" lIns="0" tIns="0" rIns="0" bIns="0" rtlCol="0" anchor="ctr"/>
          <a:lstStyle/>
          <a:p>
            <a:pPr marL="0" indent="0">
              <a:buNone/>
            </a:pPr>
            <a:r>
              <a:rPr lang="en-US" sz="1300" b="1" dirty="0">
                <a:solidFill>
                  <a:schemeClr val="bg1"/>
                </a:solidFill>
              </a:rPr>
              <a:t>Stock increases</a:t>
            </a:r>
            <a:endParaRPr lang="en-US" sz="1300" dirty="0"/>
          </a:p>
        </p:txBody>
      </p:sp>
      <p:sp>
        <p:nvSpPr>
          <p:cNvPr id="18" name="Flow points A. Replenish inventory"/>
          <p:cNvSpPr txBox="1"/>
          <p:nvPr/>
        </p:nvSpPr>
        <p:spPr>
          <a:xfrm>
            <a:off x="457200" y="2852928"/>
            <a:ext cx="4023360" cy="12801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Orders hold a supplier and product lines with ordered quantity and unit cost.</a:t>
            </a:r>
            <a:endParaRPr lang="en-US" sz="1200" dirty="0"/>
          </a:p>
          <a:p>
            <a:pPr marL="177800" indent="-177800">
              <a:spcAft>
                <a:spcPts val="400"/>
              </a:spcAft>
              <a:buSzPct val="100000"/>
              <a:buChar char="•"/>
            </a:pPr>
            <a:r>
              <a:rPr lang="en-US" sz="1200" dirty="0">
                <a:solidFill>
                  <a:schemeClr val="tx1"/>
                </a:solidFill>
              </a:rPr>
              <a:t>Partial deliveries set status to partially_received, then received; each receipt adds stock.</a:t>
            </a:r>
            <a:endParaRPr lang="en-US" sz="1200" dirty="0"/>
          </a:p>
          <a:p>
            <a:pPr marL="177800" indent="-177800">
              <a:spcAft>
                <a:spcPts val="400"/>
              </a:spcAft>
              <a:buSzPct val="100000"/>
              <a:buChar char="•"/>
            </a:pPr>
            <a:r>
              <a:rPr lang="en-US" sz="1200" dirty="0">
                <a:solidFill>
                  <a:schemeClr val="tx1"/>
                </a:solidFill>
              </a:rPr>
              <a:t>Duplicate lines and over-receipt are rejected; orders with received goods cannot be cancelled.</a:t>
            </a:r>
            <a:endParaRPr lang="en-US" sz="1200" dirty="0"/>
          </a:p>
        </p:txBody>
      </p:sp>
      <p:sp>
        <p:nvSpPr>
          <p:cNvPr id="19" name="B. Sell at the point of sale circle"/>
          <p:cNvSpPr/>
          <p:nvPr/>
        </p:nvSpPr>
        <p:spPr>
          <a:xfrm>
            <a:off x="4663440" y="1097280"/>
            <a:ext cx="329184" cy="329184"/>
          </a:xfrm>
          <a:prstGeom prst="ellipse">
            <a:avLst/>
          </a:prstGeom>
          <a:solidFill>
            <a:schemeClr val="tx2"/>
          </a:solidFill>
          <a:ln/>
        </p:spPr>
      </p:sp>
      <p:pic>
        <p:nvPicPr>
          <p:cNvPr id="20" name="B. Sell at the point of sale icon" descr="B. Sell at the point of sale"/>
          <p:cNvPicPr>
            <a:picLocks noChangeAspect="1"/>
          </p:cNvPicPr>
          <p:nvPr/>
        </p:nvPicPr>
        <p:blipFill>
          <a:blip r:embed="rId4"/>
          <a:stretch>
            <a:fillRect/>
          </a:stretch>
        </p:blipFill>
        <p:spPr>
          <a:xfrm>
            <a:off x="4745736" y="1179576"/>
            <a:ext cx="164592" cy="164592"/>
          </a:xfrm>
          <a:prstGeom prst="rect">
            <a:avLst/>
          </a:prstGeom>
        </p:spPr>
      </p:pic>
      <p:sp>
        <p:nvSpPr>
          <p:cNvPr id="21" name="Flow head B. Sell at the point of sale"/>
          <p:cNvSpPr txBox="1"/>
          <p:nvPr/>
        </p:nvSpPr>
        <p:spPr>
          <a:xfrm>
            <a:off x="5120640" y="1097280"/>
            <a:ext cx="3474720" cy="329184"/>
          </a:xfrm>
          <a:prstGeom prst="rect">
            <a:avLst/>
          </a:prstGeom>
          <a:noFill/>
          <a:ln/>
        </p:spPr>
        <p:txBody>
          <a:bodyPr wrap="square" lIns="0" tIns="0" rIns="0" bIns="0" rtlCol="0" anchor="ctr"/>
          <a:lstStyle/>
          <a:p>
            <a:pPr marL="0" indent="0">
              <a:buNone/>
            </a:pPr>
            <a:r>
              <a:rPr lang="en-US" sz="1600" b="1" dirty="0">
                <a:solidFill>
                  <a:schemeClr val="tx2"/>
                </a:solidFill>
              </a:rPr>
              <a:t>B. Sell at the point of sale</a:t>
            </a:r>
            <a:endParaRPr lang="en-US" sz="1600" dirty="0"/>
          </a:p>
        </p:txBody>
      </p:sp>
      <p:sp>
        <p:nvSpPr>
          <p:cNvPr id="22" name="Step Choose products"/>
          <p:cNvSpPr/>
          <p:nvPr/>
        </p:nvSpPr>
        <p:spPr>
          <a:xfrm>
            <a:off x="4663440" y="1481328"/>
            <a:ext cx="402336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sp>
      <p:sp>
        <p:nvSpPr>
          <p:cNvPr id="23" name="Step number 1"/>
          <p:cNvSpPr/>
          <p:nvPr/>
        </p:nvSpPr>
        <p:spPr>
          <a:xfrm>
            <a:off x="4727448" y="1517904"/>
            <a:ext cx="219456" cy="219456"/>
          </a:xfrm>
          <a:prstGeom prst="ellipse">
            <a:avLst/>
          </a:prstGeom>
          <a:solidFill>
            <a:schemeClr val="accent1"/>
          </a:solid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24" name="Step text Choose products"/>
          <p:cNvSpPr txBox="1"/>
          <p:nvPr/>
        </p:nvSpPr>
        <p:spPr>
          <a:xfrm>
            <a:off x="5047488" y="1481328"/>
            <a:ext cx="3566160" cy="292608"/>
          </a:xfrm>
          <a:prstGeom prst="rect">
            <a:avLst/>
          </a:prstGeom>
          <a:noFill/>
          <a:ln/>
        </p:spPr>
        <p:txBody>
          <a:bodyPr wrap="square" lIns="0" tIns="0" rIns="0" bIns="0" rtlCol="0" anchor="ctr"/>
          <a:lstStyle/>
          <a:p>
            <a:pPr marL="0" indent="0">
              <a:buNone/>
            </a:pPr>
            <a:r>
              <a:rPr lang="en-US" sz="1300" b="1" dirty="0">
                <a:solidFill>
                  <a:schemeClr val="tx1"/>
                </a:solidFill>
              </a:rPr>
              <a:t>Choose products</a:t>
            </a:r>
            <a:endParaRPr lang="en-US" sz="1300" dirty="0"/>
          </a:p>
        </p:txBody>
      </p:sp>
      <p:sp>
        <p:nvSpPr>
          <p:cNvPr id="25" name="Step Check available stock"/>
          <p:cNvSpPr/>
          <p:nvPr/>
        </p:nvSpPr>
        <p:spPr>
          <a:xfrm>
            <a:off x="4663440" y="1819656"/>
            <a:ext cx="402336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sp>
      <p:sp>
        <p:nvSpPr>
          <p:cNvPr id="26" name="Step number 2"/>
          <p:cNvSpPr/>
          <p:nvPr/>
        </p:nvSpPr>
        <p:spPr>
          <a:xfrm>
            <a:off x="4727448" y="1856232"/>
            <a:ext cx="219456" cy="219456"/>
          </a:xfrm>
          <a:prstGeom prst="ellipse">
            <a:avLst/>
          </a:prstGeom>
          <a:solidFill>
            <a:schemeClr val="accent1"/>
          </a:solid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27" name="Step text Check available stock"/>
          <p:cNvSpPr txBox="1"/>
          <p:nvPr/>
        </p:nvSpPr>
        <p:spPr>
          <a:xfrm>
            <a:off x="5047488" y="1819656"/>
            <a:ext cx="3566160" cy="292608"/>
          </a:xfrm>
          <a:prstGeom prst="rect">
            <a:avLst/>
          </a:prstGeom>
          <a:noFill/>
          <a:ln/>
        </p:spPr>
        <p:txBody>
          <a:bodyPr wrap="square" lIns="0" tIns="0" rIns="0" bIns="0" rtlCol="0" anchor="ctr"/>
          <a:lstStyle/>
          <a:p>
            <a:pPr marL="0" indent="0">
              <a:buNone/>
            </a:pPr>
            <a:r>
              <a:rPr lang="en-US" sz="1300" b="1" dirty="0">
                <a:solidFill>
                  <a:schemeClr val="tx1"/>
                </a:solidFill>
              </a:rPr>
              <a:t>Check available stock</a:t>
            </a:r>
            <a:endParaRPr lang="en-US" sz="1300" dirty="0"/>
          </a:p>
        </p:txBody>
      </p:sp>
      <p:sp>
        <p:nvSpPr>
          <p:cNvPr id="28" name="Step Save bill and sale lines"/>
          <p:cNvSpPr/>
          <p:nvPr/>
        </p:nvSpPr>
        <p:spPr>
          <a:xfrm>
            <a:off x="4663440" y="2157984"/>
            <a:ext cx="4023360" cy="292608"/>
          </a:xfrm>
          <a:prstGeom prst="roundRect">
            <a:avLst>
              <a:gd name="adj" fmla="val 18750"/>
            </a:avLst>
          </a:prstGeom>
          <a:solidFill>
            <a:schemeClr val="bg1"/>
          </a:solidFill>
          <a:ln/>
          <a:effectLst>
            <a:outerShdw blurRad="76200" dist="25400" dir="5400000" algn="bl" rotWithShape="0">
              <a:srgbClr val="172033">
                <a:alpha val="12000"/>
              </a:srgbClr>
            </a:outerShdw>
          </a:effectLst>
        </p:spPr>
      </p:sp>
      <p:sp>
        <p:nvSpPr>
          <p:cNvPr id="29" name="Step number 3"/>
          <p:cNvSpPr/>
          <p:nvPr/>
        </p:nvSpPr>
        <p:spPr>
          <a:xfrm>
            <a:off x="4727448" y="2194560"/>
            <a:ext cx="219456" cy="219456"/>
          </a:xfrm>
          <a:prstGeom prst="ellipse">
            <a:avLst/>
          </a:prstGeom>
          <a:solidFill>
            <a:schemeClr val="accent1"/>
          </a:solid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30" name="Step text Save bill and sale lines"/>
          <p:cNvSpPr txBox="1"/>
          <p:nvPr/>
        </p:nvSpPr>
        <p:spPr>
          <a:xfrm>
            <a:off x="5047488" y="2157984"/>
            <a:ext cx="3566160" cy="292608"/>
          </a:xfrm>
          <a:prstGeom prst="rect">
            <a:avLst/>
          </a:prstGeom>
          <a:noFill/>
          <a:ln/>
        </p:spPr>
        <p:txBody>
          <a:bodyPr wrap="square" lIns="0" tIns="0" rIns="0" bIns="0" rtlCol="0" anchor="ctr"/>
          <a:lstStyle/>
          <a:p>
            <a:pPr marL="0" indent="0">
              <a:buNone/>
            </a:pPr>
            <a:r>
              <a:rPr lang="en-US" sz="1300" b="1" dirty="0">
                <a:solidFill>
                  <a:schemeClr val="tx1"/>
                </a:solidFill>
              </a:rPr>
              <a:t>Save bill and sale lines</a:t>
            </a:r>
            <a:endParaRPr lang="en-US" sz="1300" dirty="0"/>
          </a:p>
        </p:txBody>
      </p:sp>
      <p:sp>
        <p:nvSpPr>
          <p:cNvPr id="31" name="Step Stock decreases"/>
          <p:cNvSpPr/>
          <p:nvPr/>
        </p:nvSpPr>
        <p:spPr>
          <a:xfrm>
            <a:off x="4663440" y="2496312"/>
            <a:ext cx="4023360" cy="292608"/>
          </a:xfrm>
          <a:prstGeom prst="roundRect">
            <a:avLst>
              <a:gd name="adj" fmla="val 18750"/>
            </a:avLst>
          </a:prstGeom>
          <a:solidFill>
            <a:schemeClr val="accent3"/>
          </a:solidFill>
          <a:ln/>
          <a:effectLst>
            <a:outerShdw blurRad="76200" dist="25400" dir="5400000" algn="bl" rotWithShape="0">
              <a:srgbClr val="172033">
                <a:alpha val="12000"/>
              </a:srgbClr>
            </a:outerShdw>
          </a:effectLst>
        </p:spPr>
      </p:sp>
      <p:sp>
        <p:nvSpPr>
          <p:cNvPr id="32" name="Step number 4"/>
          <p:cNvSpPr/>
          <p:nvPr/>
        </p:nvSpPr>
        <p:spPr>
          <a:xfrm>
            <a:off x="4727448" y="2532888"/>
            <a:ext cx="219456" cy="219456"/>
          </a:xfrm>
          <a:prstGeom prst="ellipse">
            <a:avLst/>
          </a:prstGeom>
          <a:solidFill>
            <a:schemeClr val="tx2"/>
          </a:solid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33" name="Step text Stock decreases"/>
          <p:cNvSpPr txBox="1"/>
          <p:nvPr/>
        </p:nvSpPr>
        <p:spPr>
          <a:xfrm>
            <a:off x="5047488" y="2496312"/>
            <a:ext cx="3566160" cy="292608"/>
          </a:xfrm>
          <a:prstGeom prst="rect">
            <a:avLst/>
          </a:prstGeom>
          <a:noFill/>
          <a:ln/>
        </p:spPr>
        <p:txBody>
          <a:bodyPr wrap="square" lIns="0" tIns="0" rIns="0" bIns="0" rtlCol="0" anchor="ctr"/>
          <a:lstStyle/>
          <a:p>
            <a:pPr marL="0" indent="0">
              <a:buNone/>
            </a:pPr>
            <a:r>
              <a:rPr lang="en-US" sz="1300" b="1" dirty="0">
                <a:solidFill>
                  <a:schemeClr val="bg1"/>
                </a:solidFill>
              </a:rPr>
              <a:t>Stock decreases</a:t>
            </a:r>
            <a:endParaRPr lang="en-US" sz="1300" dirty="0"/>
          </a:p>
        </p:txBody>
      </p:sp>
      <p:sp>
        <p:nvSpPr>
          <p:cNvPr id="34" name="Flow points B. Sell at the point of sale"/>
          <p:cNvSpPr txBox="1"/>
          <p:nvPr/>
        </p:nvSpPr>
        <p:spPr>
          <a:xfrm>
            <a:off x="4663440" y="2852928"/>
            <a:ext cx="4023360" cy="12801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The selling price is captured on the sale line; bill numbers are unique.</a:t>
            </a:r>
            <a:endParaRPr lang="en-US" sz="1200" dirty="0"/>
          </a:p>
          <a:p>
            <a:pPr marL="177800" indent="-177800">
              <a:spcAft>
                <a:spcPts val="400"/>
              </a:spcAft>
              <a:buSzPct val="100000"/>
              <a:buChar char="•"/>
            </a:pPr>
            <a:r>
              <a:rPr lang="en-US" sz="1200" dirty="0">
                <a:solidFill>
                  <a:schemeClr val="tx1"/>
                </a:solidFill>
              </a:rPr>
              <a:t>If requested quantity exceeds stock, checkout is rejected.</a:t>
            </a:r>
            <a:endParaRPr lang="en-US" sz="1200" dirty="0"/>
          </a:p>
          <a:p>
            <a:pPr marL="177800" indent="-177800">
              <a:spcAft>
                <a:spcPts val="400"/>
              </a:spcAft>
              <a:buSzPct val="100000"/>
              <a:buChar char="•"/>
            </a:pPr>
            <a:r>
              <a:rPr lang="en-US" sz="1200" dirty="0">
                <a:solidFill>
                  <a:schemeClr val="tx1"/>
                </a:solidFill>
              </a:rPr>
              <a:t>Sale, line items, and negative stock movements are saved together.</a:t>
            </a:r>
            <a:endParaRPr lang="en-US" sz="1200" dirty="0"/>
          </a:p>
        </p:txBody>
      </p:sp>
      <p:sp>
        <p:nvSpPr>
          <p:cNvPr id="35" name="Audit strip"/>
          <p:cNvSpPr/>
          <p:nvPr/>
        </p:nvSpPr>
        <p:spPr>
          <a:xfrm>
            <a:off x="457200" y="4224528"/>
            <a:ext cx="8229600" cy="457200"/>
          </a:xfrm>
          <a:prstGeom prst="roundRect">
            <a:avLst>
              <a:gd name="adj" fmla="val 12000"/>
            </a:avLst>
          </a:prstGeom>
          <a:solidFill>
            <a:schemeClr val="accent2">
              <a:alpha val="20000"/>
            </a:schemeClr>
          </a:solidFill>
          <a:ln/>
        </p:spPr>
      </p:sp>
      <p:sp>
        <p:nvSpPr>
          <p:cNvPr id="36" name="Audit text"/>
          <p:cNvSpPr txBox="1"/>
          <p:nvPr/>
        </p:nvSpPr>
        <p:spPr>
          <a:xfrm>
            <a:off x="594360" y="4224528"/>
            <a:ext cx="7955280" cy="457200"/>
          </a:xfrm>
          <a:prstGeom prst="rect">
            <a:avLst/>
          </a:prstGeom>
          <a:noFill/>
          <a:ln/>
        </p:spPr>
        <p:txBody>
          <a:bodyPr wrap="square" lIns="0" tIns="0" rIns="0" bIns="0" rtlCol="0" anchor="ctr"/>
          <a:lstStyle/>
          <a:p>
            <a:pPr marL="0" indent="0">
              <a:buNone/>
            </a:pPr>
            <a:r>
              <a:rPr lang="en-US" sz="1200" b="1" dirty="0">
                <a:solidFill>
                  <a:schemeClr val="tx1"/>
                </a:solidFill>
              </a:rPr>
              <a:t>C. Correct and audit: </a:t>
            </a:r>
            <a:r>
              <a:rPr lang="en-US" sz="1200" dirty="0">
                <a:solidFill>
                  <a:schemeClr val="tx1"/>
                </a:solidFill>
              </a:rPr>
              <a:t>Owner/Manager enter reasoned adjustments; each movement records product, quantity, reason, user, time, and source reference.</a:t>
            </a:r>
            <a:endParaRPr lang="en-US" sz="1200" dirty="0"/>
          </a:p>
        </p:txBody>
      </p:sp>
      <p:sp>
        <p:nvSpPr>
          <p:cNvPr id="37"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6309360" cy="548640"/>
          </a:xfrm>
          <a:prstGeom prst="rect">
            <a:avLst/>
          </a:prstGeom>
          <a:noFill/>
          <a:ln/>
        </p:spPr>
        <p:txBody>
          <a:bodyPr wrap="square" lIns="0" tIns="0" rIns="0" bIns="0" rtlCol="0" anchor="ctr"/>
          <a:lstStyle/>
          <a:p>
            <a:pPr marL="0" indent="0" algn="l">
              <a:buNone/>
            </a:pPr>
            <a:r>
              <a:rPr lang="en-US" sz="2800" b="1" dirty="0">
                <a:solidFill>
                  <a:schemeClr val="tx2"/>
                </a:solidFill>
              </a:rPr>
              <a:t>Architecture and Docker deployment</a:t>
            </a:r>
            <a:endParaRPr lang="en-US" sz="2800" dirty="0"/>
          </a:p>
        </p:txBody>
      </p:sp>
      <p:sp>
        <p:nvSpPr>
          <p:cNvPr id="3" name="Box Browser"/>
          <p:cNvSpPr/>
          <p:nvPr/>
        </p:nvSpPr>
        <p:spPr>
          <a:xfrm>
            <a:off x="457200" y="1097280"/>
            <a:ext cx="3840480" cy="713232"/>
          </a:xfrm>
          <a:prstGeom prst="roundRect">
            <a:avLst>
              <a:gd name="adj" fmla="val 10256"/>
            </a:avLst>
          </a:prstGeom>
          <a:solidFill>
            <a:schemeClr val="accent5"/>
          </a:solidFill>
          <a:ln/>
          <a:effectLst>
            <a:outerShdw blurRad="76200" dist="25400" dir="5400000" algn="bl" rotWithShape="0">
              <a:srgbClr val="172033">
                <a:alpha val="12000"/>
              </a:srgbClr>
            </a:outerShdw>
          </a:effectLst>
        </p:spPr>
      </p:sp>
      <p:sp>
        <p:nvSpPr>
          <p:cNvPr id="4" name="Box title Browser"/>
          <p:cNvSpPr txBox="1"/>
          <p:nvPr/>
        </p:nvSpPr>
        <p:spPr>
          <a:xfrm>
            <a:off x="640080" y="1152144"/>
            <a:ext cx="3474720" cy="256032"/>
          </a:xfrm>
          <a:prstGeom prst="rect">
            <a:avLst/>
          </a:prstGeom>
          <a:noFill/>
          <a:ln/>
        </p:spPr>
        <p:txBody>
          <a:bodyPr wrap="square" lIns="0" tIns="0" rIns="0" bIns="0" rtlCol="0" anchor="ctr"/>
          <a:lstStyle/>
          <a:p>
            <a:pPr marL="0" indent="0">
              <a:buNone/>
            </a:pPr>
            <a:r>
              <a:rPr lang="en-US" sz="1400" b="1" dirty="0">
                <a:solidFill>
                  <a:schemeClr val="bg1"/>
                </a:solidFill>
              </a:rPr>
              <a:t>Browser</a:t>
            </a:r>
            <a:endParaRPr lang="en-US" sz="1400" dirty="0"/>
          </a:p>
        </p:txBody>
      </p:sp>
      <p:sp>
        <p:nvSpPr>
          <p:cNvPr id="5" name="Box detail Browser"/>
          <p:cNvSpPr txBox="1"/>
          <p:nvPr/>
        </p:nvSpPr>
        <p:spPr>
          <a:xfrm>
            <a:off x="640080" y="1426464"/>
            <a:ext cx="3474720" cy="365760"/>
          </a:xfrm>
          <a:prstGeom prst="rect">
            <a:avLst/>
          </a:prstGeom>
          <a:noFill/>
          <a:ln/>
        </p:spPr>
        <p:txBody>
          <a:bodyPr wrap="square" lIns="0" tIns="0" rIns="0" bIns="0" rtlCol="0" anchor="t"/>
          <a:lstStyle/>
          <a:p>
            <a:pPr marL="0" indent="0">
              <a:buNone/>
            </a:pPr>
            <a:r>
              <a:rPr lang="en-US" sz="1200" dirty="0">
                <a:solidFill>
                  <a:schemeClr val="bg1"/>
                </a:solidFill>
              </a:rPr>
              <a:t>http://localhost:8080</a:t>
            </a:r>
            <a:endParaRPr lang="en-US" sz="1200" dirty="0"/>
          </a:p>
        </p:txBody>
      </p:sp>
      <p:sp>
        <p:nvSpPr>
          <p:cNvPr id="6" name="Arrow 1"/>
          <p:cNvSpPr/>
          <p:nvPr/>
        </p:nvSpPr>
        <p:spPr>
          <a:xfrm>
            <a:off x="2286000" y="1828800"/>
            <a:ext cx="182880" cy="164592"/>
          </a:xfrm>
          <a:prstGeom prst="downArrow">
            <a:avLst/>
          </a:prstGeom>
          <a:solidFill>
            <a:schemeClr val="accent2"/>
          </a:solidFill>
          <a:ln/>
        </p:spPr>
      </p:sp>
      <p:sp>
        <p:nvSpPr>
          <p:cNvPr id="7" name="Box Docker: web (Nginx)"/>
          <p:cNvSpPr/>
          <p:nvPr/>
        </p:nvSpPr>
        <p:spPr>
          <a:xfrm>
            <a:off x="457200" y="2011680"/>
            <a:ext cx="3840480" cy="713232"/>
          </a:xfrm>
          <a:prstGeom prst="roundRect">
            <a:avLst>
              <a:gd name="adj" fmla="val 10256"/>
            </a:avLst>
          </a:prstGeom>
          <a:solidFill>
            <a:schemeClr val="tx2"/>
          </a:solidFill>
          <a:ln/>
          <a:effectLst>
            <a:outerShdw blurRad="76200" dist="25400" dir="5400000" algn="bl" rotWithShape="0">
              <a:srgbClr val="172033">
                <a:alpha val="12000"/>
              </a:srgbClr>
            </a:outerShdw>
          </a:effectLst>
        </p:spPr>
      </p:sp>
      <p:sp>
        <p:nvSpPr>
          <p:cNvPr id="8" name="Box title Docker: web (Nginx)"/>
          <p:cNvSpPr txBox="1"/>
          <p:nvPr/>
        </p:nvSpPr>
        <p:spPr>
          <a:xfrm>
            <a:off x="640080" y="2066544"/>
            <a:ext cx="3474720" cy="256032"/>
          </a:xfrm>
          <a:prstGeom prst="rect">
            <a:avLst/>
          </a:prstGeom>
          <a:noFill/>
          <a:ln/>
        </p:spPr>
        <p:txBody>
          <a:bodyPr wrap="square" lIns="0" tIns="0" rIns="0" bIns="0" rtlCol="0" anchor="ctr"/>
          <a:lstStyle/>
          <a:p>
            <a:pPr marL="0" indent="0">
              <a:buNone/>
            </a:pPr>
            <a:r>
              <a:rPr lang="en-US" sz="1400" b="1" dirty="0">
                <a:solidFill>
                  <a:schemeClr val="bg1"/>
                </a:solidFill>
              </a:rPr>
              <a:t>Docker: web (Nginx)</a:t>
            </a:r>
            <a:endParaRPr lang="en-US" sz="1400" dirty="0"/>
          </a:p>
        </p:txBody>
      </p:sp>
      <p:sp>
        <p:nvSpPr>
          <p:cNvPr id="9" name="Box detail Docker: web (Nginx)"/>
          <p:cNvSpPr txBox="1"/>
          <p:nvPr/>
        </p:nvSpPr>
        <p:spPr>
          <a:xfrm>
            <a:off x="640080" y="2340864"/>
            <a:ext cx="3474720" cy="365760"/>
          </a:xfrm>
          <a:prstGeom prst="rect">
            <a:avLst/>
          </a:prstGeom>
          <a:noFill/>
          <a:ln/>
        </p:spPr>
        <p:txBody>
          <a:bodyPr wrap="square" lIns="0" tIns="0" rIns="0" bIns="0" rtlCol="0" anchor="t"/>
          <a:lstStyle/>
          <a:p>
            <a:pPr marL="0" indent="0">
              <a:buNone/>
            </a:pPr>
            <a:r>
              <a:rPr lang="en-US" sz="1200" dirty="0">
                <a:solidFill>
                  <a:schemeClr val="bg1"/>
                </a:solidFill>
              </a:rPr>
              <a:t>Serves the React/Vite build (SPA routing); /api/* proxied to api:8000</a:t>
            </a:r>
            <a:endParaRPr lang="en-US" sz="1200" dirty="0"/>
          </a:p>
        </p:txBody>
      </p:sp>
      <p:sp>
        <p:nvSpPr>
          <p:cNvPr id="10" name="Arrow 2"/>
          <p:cNvSpPr/>
          <p:nvPr/>
        </p:nvSpPr>
        <p:spPr>
          <a:xfrm>
            <a:off x="2286000" y="2743200"/>
            <a:ext cx="182880" cy="164592"/>
          </a:xfrm>
          <a:prstGeom prst="downArrow">
            <a:avLst/>
          </a:prstGeom>
          <a:solidFill>
            <a:schemeClr val="accent2"/>
          </a:solidFill>
          <a:ln/>
        </p:spPr>
      </p:sp>
      <p:sp>
        <p:nvSpPr>
          <p:cNvPr id="11" name="Box Docker: api (Flask + Gunicorn)"/>
          <p:cNvSpPr/>
          <p:nvPr/>
        </p:nvSpPr>
        <p:spPr>
          <a:xfrm>
            <a:off x="457200" y="2926080"/>
            <a:ext cx="3840480" cy="713232"/>
          </a:xfrm>
          <a:prstGeom prst="roundRect">
            <a:avLst>
              <a:gd name="adj" fmla="val 10256"/>
            </a:avLst>
          </a:prstGeom>
          <a:solidFill>
            <a:schemeClr val="accent1"/>
          </a:solidFill>
          <a:ln/>
          <a:effectLst>
            <a:outerShdw blurRad="76200" dist="25400" dir="5400000" algn="bl" rotWithShape="0">
              <a:srgbClr val="172033">
                <a:alpha val="12000"/>
              </a:srgbClr>
            </a:outerShdw>
          </a:effectLst>
        </p:spPr>
      </p:sp>
      <p:sp>
        <p:nvSpPr>
          <p:cNvPr id="12" name="Box title Docker: api (Flask + Gunicorn)"/>
          <p:cNvSpPr txBox="1"/>
          <p:nvPr/>
        </p:nvSpPr>
        <p:spPr>
          <a:xfrm>
            <a:off x="640080" y="2980944"/>
            <a:ext cx="3474720" cy="256032"/>
          </a:xfrm>
          <a:prstGeom prst="rect">
            <a:avLst/>
          </a:prstGeom>
          <a:noFill/>
          <a:ln/>
        </p:spPr>
        <p:txBody>
          <a:bodyPr wrap="square" lIns="0" tIns="0" rIns="0" bIns="0" rtlCol="0" anchor="ctr"/>
          <a:lstStyle/>
          <a:p>
            <a:pPr marL="0" indent="0">
              <a:buNone/>
            </a:pPr>
            <a:r>
              <a:rPr lang="en-US" sz="1400" b="1" dirty="0">
                <a:solidFill>
                  <a:schemeClr val="bg1"/>
                </a:solidFill>
              </a:rPr>
              <a:t>Docker: api (Flask + Gunicorn)</a:t>
            </a:r>
            <a:endParaRPr lang="en-US" sz="1400" dirty="0"/>
          </a:p>
        </p:txBody>
      </p:sp>
      <p:sp>
        <p:nvSpPr>
          <p:cNvPr id="13" name="Box detail Docker: api (Flask + Gunicorn)"/>
          <p:cNvSpPr txBox="1"/>
          <p:nvPr/>
        </p:nvSpPr>
        <p:spPr>
          <a:xfrm>
            <a:off x="640080" y="3255264"/>
            <a:ext cx="3474720" cy="365760"/>
          </a:xfrm>
          <a:prstGeom prst="rect">
            <a:avLst/>
          </a:prstGeom>
          <a:noFill/>
          <a:ln/>
        </p:spPr>
        <p:txBody>
          <a:bodyPr wrap="square" lIns="0" tIns="0" rIns="0" bIns="0" rtlCol="0" anchor="t"/>
          <a:lstStyle/>
          <a:p>
            <a:pPr marL="0" indent="0">
              <a:buNone/>
            </a:pPr>
            <a:r>
              <a:rPr lang="en-US" sz="1200" dirty="0">
                <a:solidFill>
                  <a:schemeClr val="bg1"/>
                </a:solidFill>
              </a:rPr>
              <a:t>SQLAlchemy connects through DATABASE_URL</a:t>
            </a:r>
            <a:endParaRPr lang="en-US" sz="1200" dirty="0"/>
          </a:p>
        </p:txBody>
      </p:sp>
      <p:sp>
        <p:nvSpPr>
          <p:cNvPr id="14" name="Arrow 3"/>
          <p:cNvSpPr/>
          <p:nvPr/>
        </p:nvSpPr>
        <p:spPr>
          <a:xfrm>
            <a:off x="2286000" y="3657600"/>
            <a:ext cx="182880" cy="164592"/>
          </a:xfrm>
          <a:prstGeom prst="downArrow">
            <a:avLst/>
          </a:prstGeom>
          <a:solidFill>
            <a:schemeClr val="accent2"/>
          </a:solidFill>
          <a:ln/>
        </p:spPr>
      </p:sp>
      <p:sp>
        <p:nvSpPr>
          <p:cNvPr id="15" name="Box PostgreSQL"/>
          <p:cNvSpPr/>
          <p:nvPr/>
        </p:nvSpPr>
        <p:spPr>
          <a:xfrm>
            <a:off x="457200" y="3840480"/>
            <a:ext cx="3840480" cy="713232"/>
          </a:xfrm>
          <a:prstGeom prst="roundRect">
            <a:avLst>
              <a:gd name="adj" fmla="val 10256"/>
            </a:avLst>
          </a:prstGeom>
          <a:solidFill>
            <a:schemeClr val="accent3"/>
          </a:solidFill>
          <a:ln/>
          <a:effectLst>
            <a:outerShdw blurRad="76200" dist="25400" dir="5400000" algn="bl" rotWithShape="0">
              <a:srgbClr val="172033">
                <a:alpha val="12000"/>
              </a:srgbClr>
            </a:outerShdw>
          </a:effectLst>
        </p:spPr>
      </p:sp>
      <p:sp>
        <p:nvSpPr>
          <p:cNvPr id="16" name="Box title PostgreSQL"/>
          <p:cNvSpPr txBox="1"/>
          <p:nvPr/>
        </p:nvSpPr>
        <p:spPr>
          <a:xfrm>
            <a:off x="640080" y="3895344"/>
            <a:ext cx="3474720" cy="256032"/>
          </a:xfrm>
          <a:prstGeom prst="rect">
            <a:avLst/>
          </a:prstGeom>
          <a:noFill/>
          <a:ln/>
        </p:spPr>
        <p:txBody>
          <a:bodyPr wrap="square" lIns="0" tIns="0" rIns="0" bIns="0" rtlCol="0" anchor="ctr"/>
          <a:lstStyle/>
          <a:p>
            <a:pPr marL="0" indent="0">
              <a:buNone/>
            </a:pPr>
            <a:r>
              <a:rPr lang="en-US" sz="1400" b="1" dirty="0">
                <a:solidFill>
                  <a:schemeClr val="bg1"/>
                </a:solidFill>
              </a:rPr>
              <a:t>PostgreSQL</a:t>
            </a:r>
            <a:endParaRPr lang="en-US" sz="1400" dirty="0"/>
          </a:p>
        </p:txBody>
      </p:sp>
      <p:sp>
        <p:nvSpPr>
          <p:cNvPr id="17" name="Box detail PostgreSQL"/>
          <p:cNvSpPr txBox="1"/>
          <p:nvPr/>
        </p:nvSpPr>
        <p:spPr>
          <a:xfrm>
            <a:off x="640080" y="4169664"/>
            <a:ext cx="3474720" cy="365760"/>
          </a:xfrm>
          <a:prstGeom prst="rect">
            <a:avLst/>
          </a:prstGeom>
          <a:noFill/>
          <a:ln/>
        </p:spPr>
        <p:txBody>
          <a:bodyPr wrap="square" lIns="0" tIns="0" rIns="0" bIns="0" rtlCol="0" anchor="t"/>
          <a:lstStyle/>
          <a:p>
            <a:pPr marL="0" indent="0">
              <a:buNone/>
            </a:pPr>
            <a:r>
              <a:rPr lang="en-US" sz="1200" dirty="0">
                <a:solidFill>
                  <a:schemeClr val="bg1"/>
                </a:solidFill>
              </a:rPr>
              <a:t>Reached through DATABASE_URL</a:t>
            </a:r>
            <a:endParaRPr lang="en-US" sz="1200" dirty="0"/>
          </a:p>
        </p:txBody>
      </p:sp>
      <p:sp>
        <p:nvSpPr>
          <p:cNvPr id="18" name="Docker row Web image"/>
          <p:cNvSpPr/>
          <p:nvPr/>
        </p:nvSpPr>
        <p:spPr>
          <a:xfrm>
            <a:off x="4526280" y="1097280"/>
            <a:ext cx="4160520" cy="694944"/>
          </a:xfrm>
          <a:prstGeom prst="roundRect">
            <a:avLst>
              <a:gd name="adj" fmla="val 10526"/>
            </a:avLst>
          </a:prstGeom>
          <a:solidFill>
            <a:schemeClr val="bg1"/>
          </a:solidFill>
          <a:ln/>
          <a:effectLst>
            <a:outerShdw blurRad="76200" dist="25400" dir="5400000" algn="bl" rotWithShape="0">
              <a:srgbClr val="172033">
                <a:alpha val="12000"/>
              </a:srgbClr>
            </a:outerShdw>
          </a:effectLst>
        </p:spPr>
      </p:sp>
      <p:sp>
        <p:nvSpPr>
          <p:cNvPr id="19" name="Docker tag Web image"/>
          <p:cNvSpPr/>
          <p:nvPr/>
        </p:nvSpPr>
        <p:spPr>
          <a:xfrm>
            <a:off x="4617720" y="1252728"/>
            <a:ext cx="960120" cy="384048"/>
          </a:xfrm>
          <a:prstGeom prst="roundRect">
            <a:avLst>
              <a:gd name="adj" fmla="val 14286"/>
            </a:avLst>
          </a:prstGeom>
          <a:solidFill>
            <a:schemeClr val="tx2"/>
          </a:solidFill>
          <a:ln/>
        </p:spPr>
        <p:txBody>
          <a:bodyPr wrap="square" lIns="0" tIns="0" rIns="0" bIns="0" rtlCol="0" anchor="ctr"/>
          <a:lstStyle/>
          <a:p>
            <a:pPr marL="0" indent="0" algn="ctr">
              <a:buNone/>
            </a:pPr>
            <a:r>
              <a:rPr lang="en-US" sz="1200" b="1" dirty="0">
                <a:solidFill>
                  <a:schemeClr val="bg1"/>
                </a:solidFill>
              </a:rPr>
              <a:t>Web image</a:t>
            </a:r>
            <a:endParaRPr lang="en-US" sz="1200" dirty="0"/>
          </a:p>
        </p:txBody>
      </p:sp>
      <p:sp>
        <p:nvSpPr>
          <p:cNvPr id="20" name="Docker text Web image"/>
          <p:cNvSpPr txBox="1"/>
          <p:nvPr/>
        </p:nvSpPr>
        <p:spPr>
          <a:xfrm>
            <a:off x="5715000" y="1133856"/>
            <a:ext cx="2880360" cy="621792"/>
          </a:xfrm>
          <a:prstGeom prst="rect">
            <a:avLst/>
          </a:prstGeom>
          <a:noFill/>
          <a:ln/>
        </p:spPr>
        <p:txBody>
          <a:bodyPr wrap="square" lIns="0" tIns="0" rIns="0" bIns="0" rtlCol="0" anchor="ctr"/>
          <a:lstStyle/>
          <a:p>
            <a:pPr marL="0" indent="0">
              <a:buNone/>
            </a:pPr>
            <a:r>
              <a:rPr lang="en-US" sz="1200" dirty="0">
                <a:solidFill>
                  <a:schemeClr val="tx1"/>
                </a:solidFill>
              </a:rPr>
              <a:t>Multi-stage: Node 22, npm ci, npm run build, then dist copied into nginx:alpine.</a:t>
            </a:r>
            <a:endParaRPr lang="en-US" sz="1200" dirty="0"/>
          </a:p>
        </p:txBody>
      </p:sp>
      <p:sp>
        <p:nvSpPr>
          <p:cNvPr id="21" name="Docker row API image"/>
          <p:cNvSpPr/>
          <p:nvPr/>
        </p:nvSpPr>
        <p:spPr>
          <a:xfrm>
            <a:off x="4526280" y="1865376"/>
            <a:ext cx="4160520" cy="694944"/>
          </a:xfrm>
          <a:prstGeom prst="roundRect">
            <a:avLst>
              <a:gd name="adj" fmla="val 10526"/>
            </a:avLst>
          </a:prstGeom>
          <a:solidFill>
            <a:schemeClr val="bg1"/>
          </a:solidFill>
          <a:ln/>
          <a:effectLst>
            <a:outerShdw blurRad="76200" dist="25400" dir="5400000" algn="bl" rotWithShape="0">
              <a:srgbClr val="172033">
                <a:alpha val="12000"/>
              </a:srgbClr>
            </a:outerShdw>
          </a:effectLst>
        </p:spPr>
      </p:sp>
      <p:sp>
        <p:nvSpPr>
          <p:cNvPr id="22" name="Docker tag API image"/>
          <p:cNvSpPr/>
          <p:nvPr/>
        </p:nvSpPr>
        <p:spPr>
          <a:xfrm>
            <a:off x="4617720" y="2020824"/>
            <a:ext cx="960120" cy="384048"/>
          </a:xfrm>
          <a:prstGeom prst="roundRect">
            <a:avLst>
              <a:gd name="adj" fmla="val 14286"/>
            </a:avLst>
          </a:prstGeom>
          <a:solidFill>
            <a:schemeClr val="tx2"/>
          </a:solidFill>
          <a:ln/>
        </p:spPr>
        <p:txBody>
          <a:bodyPr wrap="square" lIns="0" tIns="0" rIns="0" bIns="0" rtlCol="0" anchor="ctr"/>
          <a:lstStyle/>
          <a:p>
            <a:pPr marL="0" indent="0" algn="ctr">
              <a:buNone/>
            </a:pPr>
            <a:r>
              <a:rPr lang="en-US" sz="1200" b="1" dirty="0">
                <a:solidFill>
                  <a:schemeClr val="bg1"/>
                </a:solidFill>
              </a:rPr>
              <a:t>API image</a:t>
            </a:r>
            <a:endParaRPr lang="en-US" sz="1200" dirty="0"/>
          </a:p>
        </p:txBody>
      </p:sp>
      <p:sp>
        <p:nvSpPr>
          <p:cNvPr id="23" name="Docker text API image"/>
          <p:cNvSpPr txBox="1"/>
          <p:nvPr/>
        </p:nvSpPr>
        <p:spPr>
          <a:xfrm>
            <a:off x="5715000" y="1901952"/>
            <a:ext cx="2880360" cy="621792"/>
          </a:xfrm>
          <a:prstGeom prst="rect">
            <a:avLst/>
          </a:prstGeom>
          <a:noFill/>
          <a:ln/>
        </p:spPr>
        <p:txBody>
          <a:bodyPr wrap="square" lIns="0" tIns="0" rIns="0" bIns="0" rtlCol="0" anchor="ctr"/>
          <a:lstStyle/>
          <a:p>
            <a:pPr marL="0" indent="0">
              <a:buNone/>
            </a:pPr>
            <a:r>
              <a:rPr lang="en-US" sz="1200" dirty="0">
                <a:solidFill>
                  <a:schemeClr val="tx1"/>
                </a:solidFill>
              </a:rPr>
              <a:t>Python 3.12 slim; locked dependencies via uv; Flask runs under Gunicorn on port 8000.</a:t>
            </a:r>
            <a:endParaRPr lang="en-US" sz="1200" dirty="0"/>
          </a:p>
        </p:txBody>
      </p:sp>
      <p:sp>
        <p:nvSpPr>
          <p:cNvPr id="24" name="Docker row Compose"/>
          <p:cNvSpPr/>
          <p:nvPr/>
        </p:nvSpPr>
        <p:spPr>
          <a:xfrm>
            <a:off x="4526280" y="2633472"/>
            <a:ext cx="4160520" cy="694944"/>
          </a:xfrm>
          <a:prstGeom prst="roundRect">
            <a:avLst>
              <a:gd name="adj" fmla="val 10526"/>
            </a:avLst>
          </a:prstGeom>
          <a:solidFill>
            <a:schemeClr val="bg1"/>
          </a:solidFill>
          <a:ln/>
          <a:effectLst>
            <a:outerShdw blurRad="76200" dist="25400" dir="5400000" algn="bl" rotWithShape="0">
              <a:srgbClr val="172033">
                <a:alpha val="12000"/>
              </a:srgbClr>
            </a:outerShdw>
          </a:effectLst>
        </p:spPr>
      </p:sp>
      <p:sp>
        <p:nvSpPr>
          <p:cNvPr id="25" name="Docker tag Compose"/>
          <p:cNvSpPr/>
          <p:nvPr/>
        </p:nvSpPr>
        <p:spPr>
          <a:xfrm>
            <a:off x="4617720" y="2788920"/>
            <a:ext cx="960120" cy="384048"/>
          </a:xfrm>
          <a:prstGeom prst="roundRect">
            <a:avLst>
              <a:gd name="adj" fmla="val 14286"/>
            </a:avLst>
          </a:prstGeom>
          <a:solidFill>
            <a:schemeClr val="tx2"/>
          </a:solidFill>
          <a:ln/>
        </p:spPr>
        <p:txBody>
          <a:bodyPr wrap="square" lIns="0" tIns="0" rIns="0" bIns="0" rtlCol="0" anchor="ctr"/>
          <a:lstStyle/>
          <a:p>
            <a:pPr marL="0" indent="0" algn="ctr">
              <a:buNone/>
            </a:pPr>
            <a:r>
              <a:rPr lang="en-US" sz="1200" b="1" dirty="0">
                <a:solidFill>
                  <a:schemeClr val="bg1"/>
                </a:solidFill>
              </a:rPr>
              <a:t>Compose</a:t>
            </a:r>
            <a:endParaRPr lang="en-US" sz="1200" dirty="0"/>
          </a:p>
        </p:txBody>
      </p:sp>
      <p:sp>
        <p:nvSpPr>
          <p:cNvPr id="26" name="Docker text Compose"/>
          <p:cNvSpPr txBox="1"/>
          <p:nvPr/>
        </p:nvSpPr>
        <p:spPr>
          <a:xfrm>
            <a:off x="5715000" y="2670048"/>
            <a:ext cx="2880360" cy="621792"/>
          </a:xfrm>
          <a:prstGeom prst="rect">
            <a:avLst/>
          </a:prstGeom>
          <a:noFill/>
          <a:ln/>
        </p:spPr>
        <p:txBody>
          <a:bodyPr wrap="square" lIns="0" tIns="0" rIns="0" bIns="0" rtlCol="0" anchor="ctr"/>
          <a:lstStyle/>
          <a:p>
            <a:pPr marL="0" indent="0">
              <a:buNone/>
            </a:pPr>
            <a:r>
              <a:rPr lang="en-US" sz="1200" dirty="0">
                <a:solidFill>
                  <a:schemeClr val="tx1"/>
                </a:solidFill>
              </a:rPr>
              <a:t>web publishes 8080→80; api publishes 8000→8000 and reads backend/.env.</a:t>
            </a:r>
            <a:endParaRPr lang="en-US" sz="1200" dirty="0"/>
          </a:p>
        </p:txBody>
      </p:sp>
      <p:sp>
        <p:nvSpPr>
          <p:cNvPr id="27" name="Docker row API startup"/>
          <p:cNvSpPr/>
          <p:nvPr/>
        </p:nvSpPr>
        <p:spPr>
          <a:xfrm>
            <a:off x="4526280" y="3401568"/>
            <a:ext cx="4160520" cy="694944"/>
          </a:xfrm>
          <a:prstGeom prst="roundRect">
            <a:avLst>
              <a:gd name="adj" fmla="val 10526"/>
            </a:avLst>
          </a:prstGeom>
          <a:solidFill>
            <a:schemeClr val="bg1"/>
          </a:solidFill>
          <a:ln/>
          <a:effectLst>
            <a:outerShdw blurRad="76200" dist="25400" dir="5400000" algn="bl" rotWithShape="0">
              <a:srgbClr val="172033">
                <a:alpha val="12000"/>
              </a:srgbClr>
            </a:outerShdw>
          </a:effectLst>
        </p:spPr>
      </p:sp>
      <p:sp>
        <p:nvSpPr>
          <p:cNvPr id="28" name="Docker tag API startup"/>
          <p:cNvSpPr/>
          <p:nvPr/>
        </p:nvSpPr>
        <p:spPr>
          <a:xfrm>
            <a:off x="4617720" y="3557016"/>
            <a:ext cx="960120" cy="384048"/>
          </a:xfrm>
          <a:prstGeom prst="roundRect">
            <a:avLst>
              <a:gd name="adj" fmla="val 14286"/>
            </a:avLst>
          </a:prstGeom>
          <a:solidFill>
            <a:schemeClr val="tx2"/>
          </a:solidFill>
          <a:ln/>
        </p:spPr>
        <p:txBody>
          <a:bodyPr wrap="square" lIns="0" tIns="0" rIns="0" bIns="0" rtlCol="0" anchor="ctr"/>
          <a:lstStyle/>
          <a:p>
            <a:pPr marL="0" indent="0" algn="ctr">
              <a:buNone/>
            </a:pPr>
            <a:r>
              <a:rPr lang="en-US" sz="1200" b="1" dirty="0">
                <a:solidFill>
                  <a:schemeClr val="bg1"/>
                </a:solidFill>
              </a:rPr>
              <a:t>API startup</a:t>
            </a:r>
            <a:endParaRPr lang="en-US" sz="1200" dirty="0"/>
          </a:p>
        </p:txBody>
      </p:sp>
      <p:sp>
        <p:nvSpPr>
          <p:cNvPr id="29" name="Docker text API startup"/>
          <p:cNvSpPr txBox="1"/>
          <p:nvPr/>
        </p:nvSpPr>
        <p:spPr>
          <a:xfrm>
            <a:off x="5715000" y="3438144"/>
            <a:ext cx="2880360" cy="621792"/>
          </a:xfrm>
          <a:prstGeom prst="rect">
            <a:avLst/>
          </a:prstGeom>
          <a:noFill/>
          <a:ln/>
        </p:spPr>
        <p:txBody>
          <a:bodyPr wrap="square" lIns="0" tIns="0" rIns="0" bIns="0" rtlCol="0" anchor="ctr"/>
          <a:lstStyle/>
          <a:p>
            <a:pPr marL="0" indent="0">
              <a:buNone/>
            </a:pPr>
            <a:r>
              <a:rPr lang="en-US" sz="1200" dirty="0">
                <a:solidFill>
                  <a:schemeClr val="tx1"/>
                </a:solidFill>
              </a:rPr>
              <a:t>Create tables → run idempotent user and opening-inventory seeds → start Gunicorn.</a:t>
            </a:r>
            <a:endParaRPr lang="en-US" sz="1200" dirty="0"/>
          </a:p>
        </p:txBody>
      </p:sp>
      <p:sp>
        <p:nvSpPr>
          <p:cNvPr id="30" name="DB note panel"/>
          <p:cNvSpPr/>
          <p:nvPr/>
        </p:nvSpPr>
        <p:spPr>
          <a:xfrm>
            <a:off x="4526280" y="4187952"/>
            <a:ext cx="4160520" cy="457200"/>
          </a:xfrm>
          <a:prstGeom prst="roundRect">
            <a:avLst>
              <a:gd name="adj" fmla="val 12000"/>
            </a:avLst>
          </a:prstGeom>
          <a:solidFill>
            <a:schemeClr val="accent2">
              <a:alpha val="20000"/>
            </a:schemeClr>
          </a:solidFill>
          <a:ln/>
        </p:spPr>
      </p:sp>
      <p:sp>
        <p:nvSpPr>
          <p:cNvPr id="31" name="DB note"/>
          <p:cNvSpPr txBox="1"/>
          <p:nvPr/>
        </p:nvSpPr>
        <p:spPr>
          <a:xfrm>
            <a:off x="4663440" y="4187952"/>
            <a:ext cx="3886200" cy="457200"/>
          </a:xfrm>
          <a:prstGeom prst="rect">
            <a:avLst/>
          </a:prstGeom>
          <a:noFill/>
          <a:ln/>
        </p:spPr>
        <p:txBody>
          <a:bodyPr wrap="square" lIns="0" tIns="0" rIns="0" bIns="0" rtlCol="0" anchor="ctr"/>
          <a:lstStyle/>
          <a:p>
            <a:pPr marL="0" indent="0">
              <a:buNone/>
            </a:pPr>
            <a:r>
              <a:rPr lang="en-US" sz="1200" b="1" dirty="0">
                <a:solidFill>
                  <a:schemeClr val="tx1"/>
                </a:solidFill>
              </a:rPr>
              <a:t>Note: </a:t>
            </a:r>
            <a:r>
              <a:rPr lang="en-US" sz="1200" dirty="0">
                <a:solidFill>
                  <a:schemeClr val="tx1"/>
                </a:solidFill>
              </a:rPr>
              <a:t>PostgreSQL is not a Compose service here; it must be reachable at DATABASE_URL.</a:t>
            </a:r>
            <a:endParaRPr lang="en-US" sz="1200" dirty="0"/>
          </a:p>
        </p:txBody>
      </p:sp>
      <p:sp>
        <p:nvSpPr>
          <p:cNvPr id="32"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6309360" cy="548640"/>
          </a:xfrm>
          <a:prstGeom prst="rect">
            <a:avLst/>
          </a:prstGeom>
          <a:noFill/>
          <a:ln/>
        </p:spPr>
        <p:txBody>
          <a:bodyPr wrap="square" lIns="0" tIns="0" rIns="0" bIns="0" rtlCol="0" anchor="ctr"/>
          <a:lstStyle/>
          <a:p>
            <a:pPr marL="0" indent="0" algn="l">
              <a:buNone/>
            </a:pPr>
            <a:r>
              <a:rPr lang="en-US" sz="2800" b="1" dirty="0">
                <a:solidFill>
                  <a:schemeClr val="tx2"/>
                </a:solidFill>
              </a:rPr>
              <a:t>Data model and the inventory ledger</a:t>
            </a:r>
            <a:endParaRPr lang="en-US" sz="2800" dirty="0"/>
          </a:p>
        </p:txBody>
      </p:sp>
      <p:sp>
        <p:nvSpPr>
          <p:cNvPr id="3" name="Entity Catalog"/>
          <p:cNvSpPr/>
          <p:nvPr/>
        </p:nvSpPr>
        <p:spPr>
          <a:xfrm>
            <a:off x="457200" y="1097280"/>
            <a:ext cx="4114800" cy="512064"/>
          </a:xfrm>
          <a:prstGeom prst="roundRect">
            <a:avLst>
              <a:gd name="adj" fmla="val 14286"/>
            </a:avLst>
          </a:prstGeom>
          <a:solidFill>
            <a:schemeClr val="bg1"/>
          </a:solidFill>
          <a:ln/>
          <a:effectLst>
            <a:outerShdw blurRad="76200" dist="25400" dir="5400000" algn="bl" rotWithShape="0">
              <a:srgbClr val="172033">
                <a:alpha val="12000"/>
              </a:srgbClr>
            </a:outerShdw>
          </a:effectLst>
        </p:spPr>
      </p:sp>
      <p:sp>
        <p:nvSpPr>
          <p:cNvPr id="4" name="Entity tag Catalog"/>
          <p:cNvSpPr/>
          <p:nvPr/>
        </p:nvSpPr>
        <p:spPr>
          <a:xfrm>
            <a:off x="548640" y="1179576"/>
            <a:ext cx="914400" cy="347472"/>
          </a:xfrm>
          <a:prstGeom prst="roundRect">
            <a:avLst>
              <a:gd name="adj" fmla="val 15789"/>
            </a:avLst>
          </a:prstGeom>
          <a:solidFill>
            <a:schemeClr val="tx2"/>
          </a:solidFill>
          <a:ln/>
        </p:spPr>
        <p:txBody>
          <a:bodyPr wrap="square" lIns="0" tIns="0" rIns="0" bIns="0" rtlCol="0" anchor="ctr"/>
          <a:lstStyle/>
          <a:p>
            <a:pPr marL="0" indent="0" algn="ctr">
              <a:buNone/>
            </a:pPr>
            <a:r>
              <a:rPr lang="en-US" sz="1200" b="1" dirty="0">
                <a:solidFill>
                  <a:schemeClr val="bg1"/>
                </a:solidFill>
              </a:rPr>
              <a:t>Catalog</a:t>
            </a:r>
            <a:endParaRPr lang="en-US" sz="1200" dirty="0"/>
          </a:p>
        </p:txBody>
      </p:sp>
      <p:sp>
        <p:nvSpPr>
          <p:cNvPr id="5" name="Entity text Catalog"/>
          <p:cNvSpPr txBox="1"/>
          <p:nvPr/>
        </p:nvSpPr>
        <p:spPr>
          <a:xfrm>
            <a:off x="1600200" y="1124712"/>
            <a:ext cx="2880360" cy="457200"/>
          </a:xfrm>
          <a:prstGeom prst="rect">
            <a:avLst/>
          </a:prstGeom>
          <a:noFill/>
          <a:ln/>
        </p:spPr>
        <p:txBody>
          <a:bodyPr wrap="square" lIns="0" tIns="0" rIns="0" bIns="0" rtlCol="0" anchor="ctr"/>
          <a:lstStyle/>
          <a:p>
            <a:pPr marL="0" indent="0">
              <a:buNone/>
            </a:pPr>
            <a:r>
              <a:rPr lang="en-US" sz="1200" dirty="0">
                <a:solidFill>
                  <a:schemeClr val="tx1"/>
                </a:solidFill>
              </a:rPr>
              <a:t>Category groups Product; StockMovement links each Product to a User.</a:t>
            </a:r>
            <a:endParaRPr lang="en-US" sz="1200" dirty="0"/>
          </a:p>
        </p:txBody>
      </p:sp>
      <p:sp>
        <p:nvSpPr>
          <p:cNvPr id="6" name="Entity Supply"/>
          <p:cNvSpPr/>
          <p:nvPr/>
        </p:nvSpPr>
        <p:spPr>
          <a:xfrm>
            <a:off x="457200" y="1664208"/>
            <a:ext cx="4114800" cy="512064"/>
          </a:xfrm>
          <a:prstGeom prst="roundRect">
            <a:avLst>
              <a:gd name="adj" fmla="val 14286"/>
            </a:avLst>
          </a:prstGeom>
          <a:solidFill>
            <a:schemeClr val="bg1"/>
          </a:solidFill>
          <a:ln/>
          <a:effectLst>
            <a:outerShdw blurRad="76200" dist="25400" dir="5400000" algn="bl" rotWithShape="0">
              <a:srgbClr val="172033">
                <a:alpha val="12000"/>
              </a:srgbClr>
            </a:outerShdw>
          </a:effectLst>
        </p:spPr>
      </p:sp>
      <p:sp>
        <p:nvSpPr>
          <p:cNvPr id="7" name="Entity tag Supply"/>
          <p:cNvSpPr/>
          <p:nvPr/>
        </p:nvSpPr>
        <p:spPr>
          <a:xfrm>
            <a:off x="548640" y="1746504"/>
            <a:ext cx="914400" cy="347472"/>
          </a:xfrm>
          <a:prstGeom prst="roundRect">
            <a:avLst>
              <a:gd name="adj" fmla="val 15789"/>
            </a:avLst>
          </a:prstGeom>
          <a:solidFill>
            <a:schemeClr val="tx2"/>
          </a:solidFill>
          <a:ln/>
        </p:spPr>
        <p:txBody>
          <a:bodyPr wrap="square" lIns="0" tIns="0" rIns="0" bIns="0" rtlCol="0" anchor="ctr"/>
          <a:lstStyle/>
          <a:p>
            <a:pPr marL="0" indent="0" algn="ctr">
              <a:buNone/>
            </a:pPr>
            <a:r>
              <a:rPr lang="en-US" sz="1200" b="1" dirty="0">
                <a:solidFill>
                  <a:schemeClr val="bg1"/>
                </a:solidFill>
              </a:rPr>
              <a:t>Supply</a:t>
            </a:r>
            <a:endParaRPr lang="en-US" sz="1200" dirty="0"/>
          </a:p>
        </p:txBody>
      </p:sp>
      <p:sp>
        <p:nvSpPr>
          <p:cNvPr id="8" name="Entity text Supply"/>
          <p:cNvSpPr txBox="1"/>
          <p:nvPr/>
        </p:nvSpPr>
        <p:spPr>
          <a:xfrm>
            <a:off x="1600200" y="1691640"/>
            <a:ext cx="2880360" cy="457200"/>
          </a:xfrm>
          <a:prstGeom prst="rect">
            <a:avLst/>
          </a:prstGeom>
          <a:noFill/>
          <a:ln/>
        </p:spPr>
        <p:txBody>
          <a:bodyPr wrap="square" lIns="0" tIns="0" rIns="0" bIns="0" rtlCol="0" anchor="ctr"/>
          <a:lstStyle/>
          <a:p>
            <a:pPr marL="0" indent="0">
              <a:buNone/>
            </a:pPr>
            <a:r>
              <a:rPr lang="en-US" sz="1200" dirty="0">
                <a:solidFill>
                  <a:schemeClr val="tx1"/>
                </a:solidFill>
              </a:rPr>
              <a:t>Supplier → PurchaseOrder → PurchaseOrderItem → Product.</a:t>
            </a:r>
            <a:endParaRPr lang="en-US" sz="1200" dirty="0"/>
          </a:p>
        </p:txBody>
      </p:sp>
      <p:sp>
        <p:nvSpPr>
          <p:cNvPr id="9" name="Entity Sales"/>
          <p:cNvSpPr/>
          <p:nvPr/>
        </p:nvSpPr>
        <p:spPr>
          <a:xfrm>
            <a:off x="457200" y="2231136"/>
            <a:ext cx="4114800" cy="512064"/>
          </a:xfrm>
          <a:prstGeom prst="roundRect">
            <a:avLst>
              <a:gd name="adj" fmla="val 14286"/>
            </a:avLst>
          </a:prstGeom>
          <a:solidFill>
            <a:schemeClr val="bg1"/>
          </a:solidFill>
          <a:ln/>
          <a:effectLst>
            <a:outerShdw blurRad="76200" dist="25400" dir="5400000" algn="bl" rotWithShape="0">
              <a:srgbClr val="172033">
                <a:alpha val="12000"/>
              </a:srgbClr>
            </a:outerShdw>
          </a:effectLst>
        </p:spPr>
      </p:sp>
      <p:sp>
        <p:nvSpPr>
          <p:cNvPr id="10" name="Entity tag Sales"/>
          <p:cNvSpPr/>
          <p:nvPr/>
        </p:nvSpPr>
        <p:spPr>
          <a:xfrm>
            <a:off x="548640" y="2313432"/>
            <a:ext cx="914400" cy="347472"/>
          </a:xfrm>
          <a:prstGeom prst="roundRect">
            <a:avLst>
              <a:gd name="adj" fmla="val 15789"/>
            </a:avLst>
          </a:prstGeom>
          <a:solidFill>
            <a:schemeClr val="tx2"/>
          </a:solidFill>
          <a:ln/>
        </p:spPr>
        <p:txBody>
          <a:bodyPr wrap="square" lIns="0" tIns="0" rIns="0" bIns="0" rtlCol="0" anchor="ctr"/>
          <a:lstStyle/>
          <a:p>
            <a:pPr marL="0" indent="0" algn="ctr">
              <a:buNone/>
            </a:pPr>
            <a:r>
              <a:rPr lang="en-US" sz="1200" b="1" dirty="0">
                <a:solidFill>
                  <a:schemeClr val="bg1"/>
                </a:solidFill>
              </a:rPr>
              <a:t>Sales</a:t>
            </a:r>
            <a:endParaRPr lang="en-US" sz="1200" dirty="0"/>
          </a:p>
        </p:txBody>
      </p:sp>
      <p:sp>
        <p:nvSpPr>
          <p:cNvPr id="11" name="Entity text Sales"/>
          <p:cNvSpPr txBox="1"/>
          <p:nvPr/>
        </p:nvSpPr>
        <p:spPr>
          <a:xfrm>
            <a:off x="1600200" y="2258568"/>
            <a:ext cx="2880360" cy="457200"/>
          </a:xfrm>
          <a:prstGeom prst="rect">
            <a:avLst/>
          </a:prstGeom>
          <a:noFill/>
          <a:ln/>
        </p:spPr>
        <p:txBody>
          <a:bodyPr wrap="square" lIns="0" tIns="0" rIns="0" bIns="0" rtlCol="0" anchor="ctr"/>
          <a:lstStyle/>
          <a:p>
            <a:pPr marL="0" indent="0">
              <a:buNone/>
            </a:pPr>
            <a:r>
              <a:rPr lang="en-US" sz="1200" dirty="0">
                <a:solidFill>
                  <a:schemeClr val="tx1"/>
                </a:solidFill>
              </a:rPr>
              <a:t>User → Sale → SaleItem → Product.</a:t>
            </a:r>
            <a:endParaRPr lang="en-US" sz="1200" dirty="0"/>
          </a:p>
        </p:txBody>
      </p:sp>
      <p:sp>
        <p:nvSpPr>
          <p:cNvPr id="12" name="Entity Auth"/>
          <p:cNvSpPr/>
          <p:nvPr/>
        </p:nvSpPr>
        <p:spPr>
          <a:xfrm>
            <a:off x="457200" y="2798064"/>
            <a:ext cx="4114800" cy="512064"/>
          </a:xfrm>
          <a:prstGeom prst="roundRect">
            <a:avLst>
              <a:gd name="adj" fmla="val 14286"/>
            </a:avLst>
          </a:prstGeom>
          <a:solidFill>
            <a:schemeClr val="bg1"/>
          </a:solidFill>
          <a:ln/>
          <a:effectLst>
            <a:outerShdw blurRad="76200" dist="25400" dir="5400000" algn="bl" rotWithShape="0">
              <a:srgbClr val="172033">
                <a:alpha val="12000"/>
              </a:srgbClr>
            </a:outerShdw>
          </a:effectLst>
        </p:spPr>
      </p:sp>
      <p:sp>
        <p:nvSpPr>
          <p:cNvPr id="13" name="Entity tag Auth"/>
          <p:cNvSpPr/>
          <p:nvPr/>
        </p:nvSpPr>
        <p:spPr>
          <a:xfrm>
            <a:off x="548640" y="2880360"/>
            <a:ext cx="914400" cy="347472"/>
          </a:xfrm>
          <a:prstGeom prst="roundRect">
            <a:avLst>
              <a:gd name="adj" fmla="val 15789"/>
            </a:avLst>
          </a:prstGeom>
          <a:solidFill>
            <a:schemeClr val="tx2"/>
          </a:solidFill>
          <a:ln/>
        </p:spPr>
        <p:txBody>
          <a:bodyPr wrap="square" lIns="0" tIns="0" rIns="0" bIns="0" rtlCol="0" anchor="ctr"/>
          <a:lstStyle/>
          <a:p>
            <a:pPr marL="0" indent="0" algn="ctr">
              <a:buNone/>
            </a:pPr>
            <a:r>
              <a:rPr lang="en-US" sz="1200" b="1" dirty="0">
                <a:solidFill>
                  <a:schemeClr val="bg1"/>
                </a:solidFill>
              </a:rPr>
              <a:t>Auth</a:t>
            </a:r>
            <a:endParaRPr lang="en-US" sz="1200" dirty="0"/>
          </a:p>
        </p:txBody>
      </p:sp>
      <p:sp>
        <p:nvSpPr>
          <p:cNvPr id="14" name="Entity text Auth"/>
          <p:cNvSpPr txBox="1"/>
          <p:nvPr/>
        </p:nvSpPr>
        <p:spPr>
          <a:xfrm>
            <a:off x="1600200" y="2825496"/>
            <a:ext cx="2880360" cy="457200"/>
          </a:xfrm>
          <a:prstGeom prst="rect">
            <a:avLst/>
          </a:prstGeom>
          <a:noFill/>
          <a:ln/>
        </p:spPr>
        <p:txBody>
          <a:bodyPr wrap="square" lIns="0" tIns="0" rIns="0" bIns="0" rtlCol="0" anchor="ctr"/>
          <a:lstStyle/>
          <a:p>
            <a:pPr marL="0" indent="0">
              <a:buNone/>
            </a:pPr>
            <a:r>
              <a:rPr lang="en-US" sz="1200" dirty="0">
                <a:solidFill>
                  <a:schemeClr val="tx1"/>
                </a:solidFill>
              </a:rPr>
              <a:t>User + TokenBlocklist handle authentication and token revocation.</a:t>
            </a:r>
            <a:endParaRPr lang="en-US" sz="1200" dirty="0"/>
          </a:p>
        </p:txBody>
      </p:sp>
      <p:sp>
        <p:nvSpPr>
          <p:cNvPr id="15" name="Ledger points"/>
          <p:cNvSpPr txBox="1"/>
          <p:nvPr/>
        </p:nvSpPr>
        <p:spPr>
          <a:xfrm>
            <a:off x="457200" y="3429000"/>
            <a:ext cx="4114800" cy="118872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Movement reasons separate purchases, sales, returns, and adjustments; purchases/returns are positive, sales negative.</a:t>
            </a:r>
            <a:endParaRPr lang="en-US" sz="1200" dirty="0"/>
          </a:p>
          <a:p>
            <a:pPr marL="177800" indent="-177800">
              <a:spcAft>
                <a:spcPts val="400"/>
              </a:spcAft>
              <a:buSzPct val="100000"/>
              <a:buChar char="•"/>
            </a:pPr>
            <a:r>
              <a:rPr lang="en-US" sz="1200" dirty="0">
                <a:solidFill>
                  <a:schemeClr val="tx1"/>
                </a:solidFill>
              </a:rPr>
              <a:t>No editable on-hand quantity is stored; sale lines keep the price at sale.</a:t>
            </a:r>
            <a:endParaRPr lang="en-US" sz="1200" dirty="0"/>
          </a:p>
          <a:p>
            <a:pPr marL="177800" indent="-177800">
              <a:spcAft>
                <a:spcPts val="400"/>
              </a:spcAft>
              <a:buSzPct val="100000"/>
              <a:buChar char="•"/>
            </a:pPr>
            <a:r>
              <a:rPr lang="en-US" sz="1200" dirty="0">
                <a:solidFill>
                  <a:schemeClr val="tx1"/>
                </a:solidFill>
              </a:rPr>
              <a:t>The ledger powers current stock, reorder checks, valuation, and reconciliation.</a:t>
            </a:r>
            <a:endParaRPr lang="en-US" sz="1200" dirty="0"/>
          </a:p>
        </p:txBody>
      </p:sp>
      <p:sp>
        <p:nvSpPr>
          <p:cNvPr id="16" name="Formula card"/>
          <p:cNvSpPr/>
          <p:nvPr/>
        </p:nvSpPr>
        <p:spPr>
          <a:xfrm>
            <a:off x="4754880" y="1097280"/>
            <a:ext cx="3931920" cy="1188720"/>
          </a:xfrm>
          <a:prstGeom prst="roundRect">
            <a:avLst>
              <a:gd name="adj" fmla="val 6154"/>
            </a:avLst>
          </a:prstGeom>
          <a:solidFill>
            <a:schemeClr val="tx2"/>
          </a:solidFill>
          <a:ln/>
          <a:effectLst>
            <a:outerShdw blurRad="76200" dist="25400" dir="5400000" algn="bl" rotWithShape="0">
              <a:srgbClr val="172033">
                <a:alpha val="12000"/>
              </a:srgbClr>
            </a:outerShdw>
          </a:effectLst>
        </p:spPr>
      </p:sp>
      <p:sp>
        <p:nvSpPr>
          <p:cNvPr id="17" name="Label STOCK ON HAND IS DERIVED FROM EVENTS"/>
          <p:cNvSpPr txBox="1"/>
          <p:nvPr/>
        </p:nvSpPr>
        <p:spPr>
          <a:xfrm>
            <a:off x="4937760" y="1207008"/>
            <a:ext cx="3566160" cy="228600"/>
          </a:xfrm>
          <a:prstGeom prst="rect">
            <a:avLst/>
          </a:prstGeom>
          <a:noFill/>
          <a:ln/>
        </p:spPr>
        <p:txBody>
          <a:bodyPr wrap="square" lIns="0" tIns="0" rIns="0" bIns="0" rtlCol="0" anchor="ctr"/>
          <a:lstStyle/>
          <a:p>
            <a:pPr marL="0" indent="0">
              <a:buNone/>
            </a:pPr>
            <a:r>
              <a:rPr lang="en-US" sz="1100" b="1" kern="0" spc="100" dirty="0">
                <a:solidFill>
                  <a:schemeClr val="accent2"/>
                </a:solidFill>
              </a:rPr>
              <a:t>STOCK ON HAND IS DERIVED FROM EVENTS</a:t>
            </a:r>
            <a:endParaRPr lang="en-US" sz="1100" dirty="0"/>
          </a:p>
        </p:txBody>
      </p:sp>
      <p:sp>
        <p:nvSpPr>
          <p:cNvPr id="18" name="Formula text"/>
          <p:cNvSpPr txBox="1"/>
          <p:nvPr/>
        </p:nvSpPr>
        <p:spPr>
          <a:xfrm>
            <a:off x="4937760" y="1481328"/>
            <a:ext cx="3566160" cy="685800"/>
          </a:xfrm>
          <a:prstGeom prst="rect">
            <a:avLst/>
          </a:prstGeom>
          <a:noFill/>
          <a:ln/>
        </p:spPr>
        <p:txBody>
          <a:bodyPr wrap="square" lIns="0" tIns="0" rIns="0" bIns="0" rtlCol="0" anchor="t"/>
          <a:lstStyle/>
          <a:p>
            <a:pPr marL="0" indent="0">
              <a:buNone/>
            </a:pPr>
            <a:r>
              <a:rPr lang="en-US" sz="1500" b="1" dirty="0">
                <a:solidFill>
                  <a:schemeClr val="bg1"/>
                </a:solidFill>
                <a:latin typeface="Courier New" pitchFamily="34" charset="0"/>
                <a:ea typeface="Courier New" pitchFamily="34" charset="-122"/>
                <a:cs typeface="Courier New" pitchFamily="34" charset="-120"/>
              </a:rPr>
              <a:t>On-hand quantity =</a:t>
            </a:r>
            <a:endParaRPr lang="en-US" sz="1500" dirty="0"/>
          </a:p>
          <a:p>
            <a:pPr marL="0" indent="0">
              <a:buNone/>
            </a:pPr>
            <a:r>
              <a:rPr lang="en-US" sz="1500" b="1" dirty="0">
                <a:solidFill>
                  <a:schemeClr val="bg1"/>
                </a:solidFill>
                <a:latin typeface="Courier New" pitchFamily="34" charset="0"/>
                <a:ea typeface="Courier New" pitchFamily="34" charset="-122"/>
                <a:cs typeface="Courier New" pitchFamily="34" charset="-120"/>
              </a:rPr>
              <a:t>SUM(signed stock movements)</a:t>
            </a:r>
            <a:endParaRPr lang="en-US" sz="1500" dirty="0"/>
          </a:p>
        </p:txBody>
      </p:sp>
      <p:graphicFrame>
        <p:nvGraphicFramePr>
          <p:cNvPr id="19" name="Chart 0"/>
          <p:cNvGraphicFramePr/>
          <p:nvPr/>
        </p:nvGraphicFramePr>
        <p:xfrm>
          <a:off x="4754880" y="2377440"/>
          <a:ext cx="393192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20" name="Ledger caption"/>
          <p:cNvSpPr txBox="1"/>
          <p:nvPr/>
        </p:nvSpPr>
        <p:spPr>
          <a:xfrm>
            <a:off x="4754880" y="4187952"/>
            <a:ext cx="3931920" cy="457200"/>
          </a:xfrm>
          <a:prstGeom prst="rect">
            <a:avLst/>
          </a:prstGeom>
          <a:noFill/>
          <a:ln/>
        </p:spPr>
        <p:txBody>
          <a:bodyPr wrap="square" lIns="0" tIns="0" rIns="0" bIns="0" rtlCol="0" anchor="t"/>
          <a:lstStyle/>
          <a:p>
            <a:pPr marL="0" indent="0">
              <a:buNone/>
            </a:pPr>
            <a:r>
              <a:rPr lang="en-US" sz="1400" b="1" dirty="0">
                <a:solidFill>
                  <a:schemeClr val="tx2"/>
                </a:solidFill>
              </a:rPr>
              <a:t>24 + 10 − 3 − 1 = 30 units on hand</a:t>
            </a:r>
            <a:endParaRPr lang="en-US" sz="1400" dirty="0"/>
          </a:p>
          <a:p>
            <a:pPr marL="0" indent="0">
              <a:buNone/>
            </a:pPr>
            <a:r>
              <a:rPr lang="en-US" sz="1200" dirty="0">
                <a:solidFill>
                  <a:schemeClr val="tx1"/>
                </a:solidFill>
              </a:rPr>
              <a:t>Purchases and returns add; sales deduct.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6309360" cy="548640"/>
          </a:xfrm>
          <a:prstGeom prst="rect">
            <a:avLst/>
          </a:prstGeom>
          <a:noFill/>
          <a:ln/>
        </p:spPr>
        <p:txBody>
          <a:bodyPr wrap="square" lIns="0" tIns="0" rIns="0" bIns="0" rtlCol="0" anchor="ctr"/>
          <a:lstStyle/>
          <a:p>
            <a:pPr marL="0" indent="0" algn="l">
              <a:buNone/>
            </a:pPr>
            <a:r>
              <a:rPr lang="en-US" sz="2800" b="1" dirty="0">
                <a:solidFill>
                  <a:schemeClr val="tx2"/>
                </a:solidFill>
              </a:rPr>
              <a:t>Security, controls, and reporting</a:t>
            </a:r>
            <a:endParaRPr lang="en-US" sz="2800" dirty="0"/>
          </a:p>
        </p:txBody>
      </p:sp>
      <p:sp>
        <p:nvSpPr>
          <p:cNvPr id="3" name="Security card"/>
          <p:cNvSpPr/>
          <p:nvPr/>
        </p:nvSpPr>
        <p:spPr>
          <a:xfrm>
            <a:off x="457200" y="1097280"/>
            <a:ext cx="4114800" cy="3547872"/>
          </a:xfrm>
          <a:prstGeom prst="roundRect">
            <a:avLst>
              <a:gd name="adj" fmla="val 2062"/>
            </a:avLst>
          </a:prstGeom>
          <a:solidFill>
            <a:schemeClr val="bg1"/>
          </a:solidFill>
          <a:ln/>
          <a:effectLst>
            <a:outerShdw blurRad="76200" dist="25400" dir="5400000" algn="bl" rotWithShape="0">
              <a:srgbClr val="172033">
                <a:alpha val="12000"/>
              </a:srgbClr>
            </a:outerShdw>
          </a:effectLst>
        </p:spPr>
      </p:sp>
      <p:sp>
        <p:nvSpPr>
          <p:cNvPr id="4" name="Security circle"/>
          <p:cNvSpPr/>
          <p:nvPr/>
        </p:nvSpPr>
        <p:spPr>
          <a:xfrm>
            <a:off x="640080" y="1234440"/>
            <a:ext cx="411480" cy="411480"/>
          </a:xfrm>
          <a:prstGeom prst="ellipse">
            <a:avLst/>
          </a:prstGeom>
          <a:solidFill>
            <a:schemeClr val="tx2"/>
          </a:solidFill>
          <a:ln/>
        </p:spPr>
      </p:sp>
      <p:pic>
        <p:nvPicPr>
          <p:cNvPr id="5" name="Security icon" descr="Security"/>
          <p:cNvPicPr>
            <a:picLocks noChangeAspect="1"/>
          </p:cNvPicPr>
          <p:nvPr/>
        </p:nvPicPr>
        <p:blipFill>
          <a:blip r:embed="rId3"/>
          <a:stretch>
            <a:fillRect/>
          </a:stretch>
        </p:blipFill>
        <p:spPr>
          <a:xfrm>
            <a:off x="742950" y="1337310"/>
            <a:ext cx="205740" cy="205740"/>
          </a:xfrm>
          <a:prstGeom prst="rect">
            <a:avLst/>
          </a:prstGeom>
        </p:spPr>
      </p:pic>
      <p:sp>
        <p:nvSpPr>
          <p:cNvPr id="6" name="Security title"/>
          <p:cNvSpPr txBox="1"/>
          <p:nvPr/>
        </p:nvSpPr>
        <p:spPr>
          <a:xfrm>
            <a:off x="1188720" y="1234440"/>
            <a:ext cx="3200400" cy="411480"/>
          </a:xfrm>
          <a:prstGeom prst="rect">
            <a:avLst/>
          </a:prstGeom>
          <a:noFill/>
          <a:ln/>
        </p:spPr>
        <p:txBody>
          <a:bodyPr wrap="square" lIns="0" tIns="0" rIns="0" bIns="0" rtlCol="0" anchor="ctr"/>
          <a:lstStyle/>
          <a:p>
            <a:pPr marL="0" indent="0">
              <a:buNone/>
            </a:pPr>
            <a:r>
              <a:rPr lang="en-US" sz="1500" b="1" dirty="0">
                <a:solidFill>
                  <a:schemeClr val="tx2"/>
                </a:solidFill>
              </a:rPr>
              <a:t>Security and integrity</a:t>
            </a:r>
            <a:endParaRPr lang="en-US" sz="1500" dirty="0"/>
          </a:p>
        </p:txBody>
      </p:sp>
      <p:sp>
        <p:nvSpPr>
          <p:cNvPr id="7" name="Security points"/>
          <p:cNvSpPr txBox="1"/>
          <p:nvPr/>
        </p:nvSpPr>
        <p:spPr>
          <a:xfrm>
            <a:off x="640080" y="1828800"/>
            <a:ext cx="3794760" cy="27432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Passwords are hashed; signed JWT access and refresh tokens protect API routes.</a:t>
            </a:r>
            <a:endParaRPr lang="en-US" sz="1200" dirty="0"/>
          </a:p>
          <a:p>
            <a:pPr marL="177800" indent="-177800">
              <a:spcAft>
                <a:spcPts val="500"/>
              </a:spcAft>
              <a:buSzPct val="100000"/>
              <a:buChar char="•"/>
            </a:pPr>
            <a:r>
              <a:rPr lang="en-US" sz="1200" dirty="0">
                <a:solidFill>
                  <a:schemeClr val="tx1"/>
                </a:solidFill>
              </a:rPr>
              <a:t>Refresh rotates tokens; logout revokes them through a JWT ID blocklist.</a:t>
            </a:r>
            <a:endParaRPr lang="en-US" sz="1200" dirty="0"/>
          </a:p>
          <a:p>
            <a:pPr marL="177800" indent="-177800">
              <a:spcAft>
                <a:spcPts val="500"/>
              </a:spcAft>
              <a:buSzPct val="100000"/>
              <a:buChar char="•"/>
            </a:pPr>
            <a:r>
              <a:rPr lang="en-US" sz="1200" dirty="0">
                <a:solidFill>
                  <a:schemeClr val="tx1"/>
                </a:solidFill>
              </a:rPr>
              <a:t>Backend role checks; staff/manager access to sales and orders is scoped to their records.</a:t>
            </a:r>
            <a:endParaRPr lang="en-US" sz="1200" dirty="0"/>
          </a:p>
          <a:p>
            <a:pPr marL="177800" indent="-177800">
              <a:spcAft>
                <a:spcPts val="500"/>
              </a:spcAft>
              <a:buSzPct val="100000"/>
              <a:buChar char="•"/>
            </a:pPr>
            <a:r>
              <a:rPr lang="en-US" sz="1200" dirty="0">
                <a:solidFill>
                  <a:schemeClr val="tx1"/>
                </a:solidFill>
              </a:rPr>
              <a:t>Schemas validate input; money is decimal; constraints validate movement direction and reason.</a:t>
            </a:r>
            <a:endParaRPr lang="en-US" sz="1200" dirty="0"/>
          </a:p>
          <a:p>
            <a:pPr marL="177800" indent="-177800">
              <a:spcAft>
                <a:spcPts val="500"/>
              </a:spcAft>
              <a:buSzPct val="100000"/>
              <a:buChar char="•"/>
            </a:pPr>
            <a:r>
              <a:rPr lang="en-US" sz="1200" dirty="0">
                <a:solidFill>
                  <a:schemeClr val="tx1"/>
                </a:solidFill>
              </a:rPr>
              <a:t>Sales, receipts, and adjustments verify quantities and use transactions and row locks.</a:t>
            </a:r>
            <a:endParaRPr lang="en-US" sz="1200" dirty="0"/>
          </a:p>
          <a:p>
            <a:pPr marL="177800" indent="-177800">
              <a:spcAft>
                <a:spcPts val="500"/>
              </a:spcAft>
              <a:buSzPct val="100000"/>
              <a:buChar char="•"/>
            </a:pPr>
            <a:r>
              <a:rPr lang="en-US" sz="1200" dirty="0">
                <a:solidFill>
                  <a:schemeClr val="tx1"/>
                </a:solidFill>
              </a:rPr>
              <a:t>Secrets, database credentials, and seed passwords come from environment variables.</a:t>
            </a:r>
            <a:endParaRPr lang="en-US" sz="1200" dirty="0"/>
          </a:p>
        </p:txBody>
      </p:sp>
      <p:sp>
        <p:nvSpPr>
          <p:cNvPr id="8" name="Label REPORTS AVAILABLE"/>
          <p:cNvSpPr txBox="1"/>
          <p:nvPr/>
        </p:nvSpPr>
        <p:spPr>
          <a:xfrm>
            <a:off x="4754880" y="1097280"/>
            <a:ext cx="3657600" cy="228600"/>
          </a:xfrm>
          <a:prstGeom prst="rect">
            <a:avLst/>
          </a:prstGeom>
          <a:noFill/>
          <a:ln/>
        </p:spPr>
        <p:txBody>
          <a:bodyPr wrap="square" lIns="0" tIns="0" rIns="0" bIns="0" rtlCol="0" anchor="ctr"/>
          <a:lstStyle/>
          <a:p>
            <a:pPr marL="0" indent="0">
              <a:buNone/>
            </a:pPr>
            <a:r>
              <a:rPr lang="en-US" sz="1100" b="1" kern="0" spc="100" dirty="0">
                <a:solidFill>
                  <a:schemeClr val="accent1"/>
                </a:solidFill>
              </a:rPr>
              <a:t>REPORTS AVAILABLE</a:t>
            </a:r>
            <a:endParaRPr lang="en-US" sz="1100" dirty="0"/>
          </a:p>
        </p:txBody>
      </p:sp>
      <p:graphicFrame>
        <p:nvGraphicFramePr>
          <p:cNvPr id="9" name="Reports table"/>
          <p:cNvGraphicFramePr>
            <a:graphicFrameLocks noGrp="1"/>
          </p:cNvGraphicFramePr>
          <p:nvPr>
            <p:extLst>
              <p:ext uri="{D42A27DB-BD31-4B8C-83A1-F6EECF244321}">
                <p14:modId xmlns:p14="http://schemas.microsoft.com/office/powerpoint/2010/main" val="1579011935"/>
              </p:ext>
            </p:extLst>
          </p:nvPr>
        </p:nvGraphicFramePr>
        <p:xfrm>
          <a:off x="4754880" y="1371600"/>
          <a:ext cx="393192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Report</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23B6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Access</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23B6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23B68"/>
                    </a:solidFill>
                  </a:tcPr>
                </a:tc>
                <a:extLst>
                  <a:ext uri="{0D108BD9-81ED-4DB2-BD59-A6C34878D82A}">
                    <a16:rowId xmlns:a16="http://schemas.microsoft.com/office/drawing/2014/main" val="10000"/>
                  </a:ext>
                </a:extLst>
              </a:tr>
              <a:tr h="493776">
                <a:tc>
                  <a:txBody>
                    <a:bodyPr/>
                    <a:lstStyle/>
                    <a:p>
                      <a:pPr marL="0" indent="0">
                        <a:buNone/>
                      </a:pPr>
                      <a:r>
                        <a:rPr lang="en-US" sz="1200" b="1" dirty="0">
                          <a:solidFill>
                            <a:srgbClr val="123B68"/>
                          </a:solidFill>
                          <a:latin typeface="Calibri" pitchFamily="34" charset="0"/>
                          <a:ea typeface="Calibri" pitchFamily="34" charset="-122"/>
                          <a:cs typeface="Calibri" pitchFamily="34" charset="-120"/>
                        </a:rPr>
                        <a:t>Low stock</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200" dirty="0">
                          <a:solidFill>
                            <a:srgbClr val="172033"/>
                          </a:solidFill>
                          <a:latin typeface="Calibri" pitchFamily="34" charset="0"/>
                          <a:ea typeface="Calibri" pitchFamily="34" charset="-122"/>
                          <a:cs typeface="Calibri" pitchFamily="34" charset="-120"/>
                        </a:rPr>
                        <a:t>Owner, Manager</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200" dirty="0">
                          <a:solidFill>
                            <a:srgbClr val="172033"/>
                          </a:solidFill>
                          <a:latin typeface="Calibri" pitchFamily="34" charset="0"/>
                          <a:ea typeface="Calibri" pitchFamily="34" charset="-122"/>
                          <a:cs typeface="Calibri" pitchFamily="34" charset="-120"/>
                        </a:rPr>
                        <a:t>Products at or below reorder level</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buNone/>
                      </a:pPr>
                      <a:r>
                        <a:rPr lang="en-US" sz="1200" b="1" dirty="0">
                          <a:solidFill>
                            <a:srgbClr val="123B68"/>
                          </a:solidFill>
                          <a:latin typeface="Calibri" pitchFamily="34" charset="0"/>
                          <a:ea typeface="Calibri" pitchFamily="34" charset="-122"/>
                          <a:cs typeface="Calibri" pitchFamily="34" charset="-120"/>
                        </a:rPr>
                        <a:t>Inventory valuation</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EAF0F8"/>
                    </a:solidFill>
                  </a:tcPr>
                </a:tc>
                <a:tc>
                  <a:txBody>
                    <a:bodyPr/>
                    <a:lstStyle/>
                    <a:p>
                      <a:pPr marL="0" indent="0">
                        <a:buNone/>
                      </a:pPr>
                      <a:r>
                        <a:rPr lang="en-US" sz="1200" dirty="0">
                          <a:solidFill>
                            <a:srgbClr val="172033"/>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EAF0F8"/>
                    </a:solidFill>
                  </a:tcPr>
                </a:tc>
                <a:tc>
                  <a:txBody>
                    <a:bodyPr/>
                    <a:lstStyle/>
                    <a:p>
                      <a:pPr marL="0" indent="0">
                        <a:buNone/>
                      </a:pPr>
                      <a:r>
                        <a:rPr lang="en-US" sz="1200" dirty="0">
                          <a:solidFill>
                            <a:srgbClr val="172033"/>
                          </a:solidFill>
                          <a:latin typeface="Calibri" pitchFamily="34" charset="0"/>
                          <a:ea typeface="Calibri" pitchFamily="34" charset="-122"/>
                          <a:cs typeface="Calibri" pitchFamily="34" charset="-120"/>
                        </a:rPr>
                        <a:t>Current stock valued at product cost</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EAF0F8"/>
                    </a:solidFill>
                  </a:tcPr>
                </a:tc>
                <a:extLst>
                  <a:ext uri="{0D108BD9-81ED-4DB2-BD59-A6C34878D82A}">
                    <a16:rowId xmlns:a16="http://schemas.microsoft.com/office/drawing/2014/main" val="10002"/>
                  </a:ext>
                </a:extLst>
              </a:tr>
              <a:tr h="493776">
                <a:tc>
                  <a:txBody>
                    <a:bodyPr/>
                    <a:lstStyle/>
                    <a:p>
                      <a:pPr marL="0" indent="0">
                        <a:buNone/>
                      </a:pPr>
                      <a:r>
                        <a:rPr lang="en-US" sz="1200" b="1" dirty="0">
                          <a:solidFill>
                            <a:srgbClr val="123B68"/>
                          </a:solidFill>
                          <a:latin typeface="Calibri" pitchFamily="34" charset="0"/>
                          <a:ea typeface="Calibri" pitchFamily="34" charset="-122"/>
                          <a:cs typeface="Calibri" pitchFamily="34" charset="-120"/>
                        </a:rPr>
                        <a:t>Ledger balance</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200" dirty="0">
                          <a:solidFill>
                            <a:srgbClr val="172033"/>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200" dirty="0">
                          <a:solidFill>
                            <a:srgbClr val="172033"/>
                          </a:solidFill>
                          <a:latin typeface="Calibri" pitchFamily="34" charset="0"/>
                          <a:ea typeface="Calibri" pitchFamily="34" charset="-122"/>
                          <a:cs typeface="Calibri" pitchFamily="34" charset="-120"/>
                        </a:rPr>
                        <a:t>Stock recomputed from movement history</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buNone/>
                      </a:pPr>
                      <a:r>
                        <a:rPr lang="en-US" sz="1200" b="1" dirty="0">
                          <a:solidFill>
                            <a:srgbClr val="123B68"/>
                          </a:solidFill>
                          <a:latin typeface="Calibri" pitchFamily="34" charset="0"/>
                          <a:ea typeface="Calibri" pitchFamily="34" charset="-122"/>
                          <a:cs typeface="Calibri" pitchFamily="34" charset="-120"/>
                        </a:rPr>
                        <a:t>Sales by day</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EAF0F8"/>
                    </a:solidFill>
                  </a:tcPr>
                </a:tc>
                <a:tc>
                  <a:txBody>
                    <a:bodyPr/>
                    <a:lstStyle/>
                    <a:p>
                      <a:pPr marL="0" indent="0">
                        <a:buNone/>
                      </a:pPr>
                      <a:r>
                        <a:rPr lang="en-US" sz="1200" dirty="0">
                          <a:solidFill>
                            <a:srgbClr val="172033"/>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EAF0F8"/>
                    </a:solidFill>
                  </a:tcPr>
                </a:tc>
                <a:tc>
                  <a:txBody>
                    <a:bodyPr/>
                    <a:lstStyle/>
                    <a:p>
                      <a:pPr marL="0" indent="0">
                        <a:buNone/>
                      </a:pPr>
                      <a:r>
                        <a:rPr lang="en-US" sz="1200" dirty="0">
                          <a:solidFill>
                            <a:srgbClr val="172033"/>
                          </a:solidFill>
                          <a:latin typeface="Calibri" pitchFamily="34" charset="0"/>
                          <a:ea typeface="Calibri" pitchFamily="34" charset="-122"/>
                          <a:cs typeface="Calibri" pitchFamily="34" charset="-120"/>
                        </a:rPr>
                        <a:t>Daily bill count and sales total for a date range</a:t>
                      </a:r>
                      <a:endParaRPr lang="en-US" sz="1200" dirty="0">
                        <a:latin typeface="Calibri" charset="0"/>
                        <a:ea typeface="Calibri" charset="0"/>
                        <a:cs typeface="Calibri" charset="0"/>
                      </a:endParaRPr>
                    </a:p>
                  </a:txBody>
                  <a:tcPr marL="73152" marR="73152" marT="27432" marB="27432"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EAF0F8"/>
                    </a:solidFill>
                  </a:tcPr>
                </a:tc>
                <a:extLst>
                  <a:ext uri="{0D108BD9-81ED-4DB2-BD59-A6C34878D82A}">
                    <a16:rowId xmlns:a16="http://schemas.microsoft.com/office/drawing/2014/main" val="10004"/>
                  </a:ext>
                </a:extLst>
              </a:tr>
            </a:tbl>
          </a:graphicData>
        </a:graphic>
      </p:graphicFrame>
      <p:sp>
        <p:nvSpPr>
          <p:cNvPr id="10" name="INR panel"/>
          <p:cNvSpPr/>
          <p:nvPr/>
        </p:nvSpPr>
        <p:spPr>
          <a:xfrm>
            <a:off x="4754880" y="3840480"/>
            <a:ext cx="3931920" cy="804672"/>
          </a:xfrm>
          <a:prstGeom prst="roundRect">
            <a:avLst>
              <a:gd name="adj" fmla="val 9091"/>
            </a:avLst>
          </a:prstGeom>
          <a:solidFill>
            <a:schemeClr val="accent3">
              <a:alpha val="15000"/>
            </a:schemeClr>
          </a:solidFill>
          <a:ln/>
        </p:spPr>
      </p:sp>
      <p:sp>
        <p:nvSpPr>
          <p:cNvPr id="11" name="INR stat"/>
          <p:cNvSpPr txBox="1"/>
          <p:nvPr/>
        </p:nvSpPr>
        <p:spPr>
          <a:xfrm>
            <a:off x="4892040" y="3840480"/>
            <a:ext cx="1737360" cy="804672"/>
          </a:xfrm>
          <a:prstGeom prst="rect">
            <a:avLst/>
          </a:prstGeom>
          <a:noFill/>
          <a:ln/>
        </p:spPr>
        <p:txBody>
          <a:bodyPr wrap="square" lIns="0" tIns="0" rIns="0" bIns="0" rtlCol="0" anchor="ctr"/>
          <a:lstStyle/>
          <a:p>
            <a:pPr marL="0" indent="0">
              <a:buNone/>
            </a:pPr>
            <a:r>
              <a:rPr lang="en-US" sz="2200" b="1" dirty="0">
                <a:solidFill>
                  <a:schemeClr val="tx2"/>
                </a:solidFill>
              </a:rPr>
              <a:t>₹1,00,000</a:t>
            </a:r>
            <a:endParaRPr lang="en-US" sz="2200" dirty="0"/>
          </a:p>
        </p:txBody>
      </p:sp>
      <p:sp>
        <p:nvSpPr>
          <p:cNvPr id="12" name="INR text"/>
          <p:cNvSpPr txBox="1"/>
          <p:nvPr/>
        </p:nvSpPr>
        <p:spPr>
          <a:xfrm>
            <a:off x="6583680" y="3840480"/>
            <a:ext cx="2011680" cy="804672"/>
          </a:xfrm>
          <a:prstGeom prst="rect">
            <a:avLst/>
          </a:prstGeom>
          <a:noFill/>
          <a:ln/>
        </p:spPr>
        <p:txBody>
          <a:bodyPr wrap="square" lIns="0" tIns="0" rIns="0" bIns="0" rtlCol="0" anchor="ctr"/>
          <a:lstStyle/>
          <a:p>
            <a:pPr marL="0" indent="0">
              <a:buNone/>
            </a:pPr>
            <a:r>
              <a:rPr lang="en-US" sz="1100" dirty="0">
                <a:solidFill>
                  <a:schemeClr val="tx1"/>
                </a:solidFill>
              </a:rPr>
              <a:t>All product, purchase, sales, and valuation amounts show in INR (₹) with Indian digit grouping.</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6309360" cy="548640"/>
          </a:xfrm>
          <a:prstGeom prst="rect">
            <a:avLst/>
          </a:prstGeom>
          <a:noFill/>
          <a:ln/>
        </p:spPr>
        <p:txBody>
          <a:bodyPr wrap="square" lIns="0" tIns="0" rIns="0" bIns="0" rtlCol="0" anchor="ctr"/>
          <a:lstStyle/>
          <a:p>
            <a:pPr marL="0" indent="0" algn="l">
              <a:buNone/>
            </a:pPr>
            <a:r>
              <a:rPr lang="en-US" sz="2800" b="1" dirty="0">
                <a:solidFill>
                  <a:schemeClr val="tx2"/>
                </a:solidFill>
              </a:rPr>
              <a:t>Run, test, and present</a:t>
            </a:r>
            <a:endParaRPr lang="en-US" sz="2800" dirty="0"/>
          </a:p>
        </p:txBody>
      </p:sp>
      <p:sp>
        <p:nvSpPr>
          <p:cNvPr id="3" name="Label RUN THE DOCKER DEPLOYMENT"/>
          <p:cNvSpPr txBox="1"/>
          <p:nvPr/>
        </p:nvSpPr>
        <p:spPr>
          <a:xfrm>
            <a:off x="457200" y="1097280"/>
            <a:ext cx="4023360" cy="228600"/>
          </a:xfrm>
          <a:prstGeom prst="rect">
            <a:avLst/>
          </a:prstGeom>
          <a:noFill/>
          <a:ln/>
        </p:spPr>
        <p:txBody>
          <a:bodyPr wrap="square" lIns="0" tIns="0" rIns="0" bIns="0" rtlCol="0" anchor="ctr"/>
          <a:lstStyle/>
          <a:p>
            <a:pPr marL="0" indent="0">
              <a:buNone/>
            </a:pPr>
            <a:r>
              <a:rPr lang="en-US" sz="1100" b="1" kern="0" spc="100" dirty="0">
                <a:solidFill>
                  <a:schemeClr val="accent1"/>
                </a:solidFill>
              </a:rPr>
              <a:t>RUN THE DOCKER DEPLOYMENT</a:t>
            </a:r>
            <a:endParaRPr lang="en-US" sz="1100" dirty="0"/>
          </a:p>
        </p:txBody>
      </p:sp>
      <p:sp>
        <p:nvSpPr>
          <p:cNvPr id="4" name="Run step 1"/>
          <p:cNvSpPr/>
          <p:nvPr/>
        </p:nvSpPr>
        <p:spPr>
          <a:xfrm>
            <a:off x="457200" y="1417320"/>
            <a:ext cx="256032" cy="256032"/>
          </a:xfrm>
          <a:prstGeom prst="ellipse">
            <a:avLst/>
          </a:prstGeom>
          <a:solidFill>
            <a:schemeClr val="accent1"/>
          </a:solid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5" name="Run text 1"/>
          <p:cNvSpPr txBox="1"/>
          <p:nvPr/>
        </p:nvSpPr>
        <p:spPr>
          <a:xfrm>
            <a:off x="822960" y="1371600"/>
            <a:ext cx="3657600" cy="329184"/>
          </a:xfrm>
          <a:prstGeom prst="rect">
            <a:avLst/>
          </a:prstGeom>
          <a:noFill/>
          <a:ln/>
        </p:spPr>
        <p:txBody>
          <a:bodyPr wrap="square" lIns="0" tIns="0" rIns="0" bIns="0" rtlCol="0" anchor="ctr"/>
          <a:lstStyle/>
          <a:p>
            <a:pPr marL="0" indent="0">
              <a:buNone/>
            </a:pPr>
            <a:r>
              <a:rPr lang="en-US" sz="1200" dirty="0">
                <a:solidFill>
                  <a:schemeClr val="tx1"/>
                </a:solidFill>
              </a:rPr>
              <a:t>Copy backend/.env.example to backend/.env.</a:t>
            </a:r>
            <a:endParaRPr lang="en-US" sz="1200" dirty="0"/>
          </a:p>
        </p:txBody>
      </p:sp>
      <p:sp>
        <p:nvSpPr>
          <p:cNvPr id="6" name="Run step 2"/>
          <p:cNvSpPr/>
          <p:nvPr/>
        </p:nvSpPr>
        <p:spPr>
          <a:xfrm>
            <a:off x="457200" y="1837944"/>
            <a:ext cx="256032" cy="256032"/>
          </a:xfrm>
          <a:prstGeom prst="ellipse">
            <a:avLst/>
          </a:prstGeom>
          <a:solidFill>
            <a:schemeClr val="accent1"/>
          </a:solid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7" name="Run text 2"/>
          <p:cNvSpPr txBox="1"/>
          <p:nvPr/>
        </p:nvSpPr>
        <p:spPr>
          <a:xfrm>
            <a:off x="822960" y="1792224"/>
            <a:ext cx="3657600" cy="566928"/>
          </a:xfrm>
          <a:prstGeom prst="rect">
            <a:avLst/>
          </a:prstGeom>
          <a:noFill/>
          <a:ln/>
        </p:spPr>
        <p:txBody>
          <a:bodyPr wrap="square" lIns="0" tIns="0" rIns="0" bIns="0" rtlCol="0" anchor="ctr"/>
          <a:lstStyle/>
          <a:p>
            <a:pPr marL="0" indent="0">
              <a:buNone/>
            </a:pPr>
            <a:r>
              <a:rPr lang="en-US" sz="1200" dirty="0">
                <a:solidFill>
                  <a:schemeClr val="tx1"/>
                </a:solidFill>
              </a:rPr>
              <a:t>Set a reachable PostgreSQL DATABASE_URL, matching password config, a unique SECRET_KEY (32+ bytes), and unique seed-role passwords.</a:t>
            </a:r>
            <a:endParaRPr lang="en-US" sz="1200" dirty="0"/>
          </a:p>
        </p:txBody>
      </p:sp>
      <p:sp>
        <p:nvSpPr>
          <p:cNvPr id="8" name="Run step 3"/>
          <p:cNvSpPr/>
          <p:nvPr/>
        </p:nvSpPr>
        <p:spPr>
          <a:xfrm>
            <a:off x="457200" y="2496312"/>
            <a:ext cx="256032" cy="256032"/>
          </a:xfrm>
          <a:prstGeom prst="ellipse">
            <a:avLst/>
          </a:prstGeom>
          <a:solidFill>
            <a:schemeClr val="accent1"/>
          </a:solid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9" name="Run text 3"/>
          <p:cNvSpPr txBox="1"/>
          <p:nvPr/>
        </p:nvSpPr>
        <p:spPr>
          <a:xfrm>
            <a:off x="822960" y="2450592"/>
            <a:ext cx="3657600" cy="384048"/>
          </a:xfrm>
          <a:prstGeom prst="rect">
            <a:avLst/>
          </a:prstGeom>
          <a:noFill/>
          <a:ln/>
        </p:spPr>
        <p:txBody>
          <a:bodyPr wrap="square" lIns="0" tIns="0" rIns="0" bIns="0" rtlCol="0" anchor="ctr"/>
          <a:lstStyle/>
          <a:p>
            <a:pPr marL="0" indent="0">
              <a:buNone/>
            </a:pPr>
            <a:r>
              <a:rPr lang="en-US" sz="1200" dirty="0">
                <a:solidFill>
                  <a:schemeClr val="tx1"/>
                </a:solidFill>
              </a:rPr>
              <a:t>From the repo root: docker compose --env-file backend/.env up --build</a:t>
            </a:r>
            <a:endParaRPr lang="en-US" sz="1200" dirty="0"/>
          </a:p>
        </p:txBody>
      </p:sp>
      <p:sp>
        <p:nvSpPr>
          <p:cNvPr id="10" name="Run step 4"/>
          <p:cNvSpPr/>
          <p:nvPr/>
        </p:nvSpPr>
        <p:spPr>
          <a:xfrm>
            <a:off x="457200" y="2971800"/>
            <a:ext cx="256032" cy="256032"/>
          </a:xfrm>
          <a:prstGeom prst="ellipse">
            <a:avLst/>
          </a:prstGeom>
          <a:solidFill>
            <a:schemeClr val="accent1"/>
          </a:solid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11" name="Run text 4"/>
          <p:cNvSpPr txBox="1"/>
          <p:nvPr/>
        </p:nvSpPr>
        <p:spPr>
          <a:xfrm>
            <a:off x="822960" y="2926080"/>
            <a:ext cx="3657600" cy="384048"/>
          </a:xfrm>
          <a:prstGeom prst="rect">
            <a:avLst/>
          </a:prstGeom>
          <a:noFill/>
          <a:ln/>
        </p:spPr>
        <p:txBody>
          <a:bodyPr wrap="square" lIns="0" tIns="0" rIns="0" bIns="0" rtlCol="0" anchor="ctr"/>
          <a:lstStyle/>
          <a:p>
            <a:pPr marL="0" indent="0">
              <a:buNone/>
            </a:pPr>
            <a:r>
              <a:rPr lang="en-US" sz="1200" dirty="0">
                <a:solidFill>
                  <a:schemeClr val="tx1"/>
                </a:solidFill>
              </a:rPr>
              <a:t>Open http://localhost:8080; the API is at http://localhost:8000.</a:t>
            </a:r>
            <a:endParaRPr lang="en-US" sz="1200" dirty="0"/>
          </a:p>
        </p:txBody>
      </p:sp>
      <p:sp>
        <p:nvSpPr>
          <p:cNvPr id="12" name="Label VERIFICATION"/>
          <p:cNvSpPr txBox="1"/>
          <p:nvPr/>
        </p:nvSpPr>
        <p:spPr>
          <a:xfrm>
            <a:off x="4663440" y="1097280"/>
            <a:ext cx="4023360" cy="228600"/>
          </a:xfrm>
          <a:prstGeom prst="rect">
            <a:avLst/>
          </a:prstGeom>
          <a:noFill/>
          <a:ln/>
        </p:spPr>
        <p:txBody>
          <a:bodyPr wrap="square" lIns="0" tIns="0" rIns="0" bIns="0" rtlCol="0" anchor="ctr"/>
          <a:lstStyle/>
          <a:p>
            <a:pPr marL="0" indent="0">
              <a:buNone/>
            </a:pPr>
            <a:r>
              <a:rPr lang="en-US" sz="1100" b="1" kern="0" spc="100" dirty="0">
                <a:solidFill>
                  <a:schemeClr val="accent1"/>
                </a:solidFill>
              </a:rPr>
              <a:t>VERIFICATION</a:t>
            </a:r>
            <a:endParaRPr lang="en-US" sz="1100" dirty="0"/>
          </a:p>
        </p:txBody>
      </p:sp>
      <p:sp>
        <p:nvSpPr>
          <p:cNvPr id="13" name="Verification list"/>
          <p:cNvSpPr txBox="1"/>
          <p:nvPr/>
        </p:nvSpPr>
        <p:spPr>
          <a:xfrm>
            <a:off x="4663440" y="1371600"/>
            <a:ext cx="4023360" cy="19202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Backend: pytest covers schema validation, registration, token lifecycle, permissions, overselling, partial receiving, and report access.</a:t>
            </a:r>
            <a:endParaRPr lang="en-US" sz="1200" dirty="0"/>
          </a:p>
          <a:p>
            <a:pPr marL="177800" indent="-177800">
              <a:spcAft>
                <a:spcPts val="500"/>
              </a:spcAft>
              <a:buSzPct val="100000"/>
              <a:buChar char="•"/>
            </a:pPr>
            <a:r>
              <a:rPr lang="en-US" sz="1200" dirty="0">
                <a:solidFill>
                  <a:schemeClr val="tx1"/>
                </a:solidFill>
              </a:rPr>
              <a:t>Frontend: npm run lint and npm run build.</a:t>
            </a:r>
            <a:endParaRPr lang="en-US" sz="1200" dirty="0"/>
          </a:p>
          <a:p>
            <a:pPr marL="177800" indent="-177800">
              <a:spcAft>
                <a:spcPts val="500"/>
              </a:spcAft>
              <a:buSzPct val="100000"/>
              <a:buChar char="•"/>
            </a:pPr>
            <a:r>
              <a:rPr lang="en-US" sz="1200" dirty="0">
                <a:solidFill>
                  <a:schemeClr val="tx1"/>
                </a:solidFill>
              </a:rPr>
              <a:t>API demo: import the Postman collection, set local variables, and use a seeded account.</a:t>
            </a:r>
            <a:endParaRPr lang="en-US" sz="1200" dirty="0"/>
          </a:p>
        </p:txBody>
      </p:sp>
      <p:sp>
        <p:nvSpPr>
          <p:cNvPr id="14" name="Label SUGGESTED LIVE DEMO"/>
          <p:cNvSpPr txBox="1"/>
          <p:nvPr/>
        </p:nvSpPr>
        <p:spPr>
          <a:xfrm>
            <a:off x="457200" y="3364992"/>
            <a:ext cx="4023360" cy="228600"/>
          </a:xfrm>
          <a:prstGeom prst="rect">
            <a:avLst/>
          </a:prstGeom>
          <a:noFill/>
          <a:ln/>
        </p:spPr>
        <p:txBody>
          <a:bodyPr wrap="square" lIns="0" tIns="0" rIns="0" bIns="0" rtlCol="0" anchor="ctr"/>
          <a:lstStyle/>
          <a:p>
            <a:pPr marL="0" indent="0">
              <a:buNone/>
            </a:pPr>
            <a:r>
              <a:rPr lang="en-US" sz="1100" b="1" kern="0" spc="100" dirty="0">
                <a:solidFill>
                  <a:schemeClr val="accent1"/>
                </a:solidFill>
              </a:rPr>
              <a:t>SUGGESTED LIVE DEMO</a:t>
            </a:r>
            <a:endParaRPr lang="en-US" sz="1100" dirty="0"/>
          </a:p>
        </p:txBody>
      </p:sp>
      <p:sp>
        <p:nvSpPr>
          <p:cNvPr id="15" name="Demo chip 1"/>
          <p:cNvSpPr/>
          <p:nvPr/>
        </p:nvSpPr>
        <p:spPr>
          <a:xfrm>
            <a:off x="457200" y="3611880"/>
            <a:ext cx="1261872" cy="438912"/>
          </a:xfrm>
          <a:prstGeom prst="roundRect">
            <a:avLst>
              <a:gd name="adj" fmla="val 12500"/>
            </a:avLst>
          </a:prstGeom>
          <a:solidFill>
            <a:schemeClr val="bg1"/>
          </a:solidFill>
          <a:ln/>
          <a:effectLst>
            <a:outerShdw blurRad="76200" dist="25400" dir="5400000" algn="bl" rotWithShape="0">
              <a:srgbClr val="172033">
                <a:alpha val="12000"/>
              </a:srgbClr>
            </a:outerShdw>
          </a:effectLst>
        </p:spPr>
        <p:txBody>
          <a:bodyPr wrap="square" lIns="0" tIns="50800" rIns="50800" bIns="0" rtlCol="0" anchor="ctr"/>
          <a:lstStyle/>
          <a:p>
            <a:pPr marL="0" indent="0" algn="ctr">
              <a:buNone/>
            </a:pPr>
            <a:r>
              <a:rPr lang="en-US" sz="1200" b="1" dirty="0">
                <a:solidFill>
                  <a:schemeClr val="tx2"/>
                </a:solidFill>
              </a:rPr>
              <a:t>Owner login</a:t>
            </a:r>
            <a:endParaRPr lang="en-US" sz="1200" dirty="0"/>
          </a:p>
        </p:txBody>
      </p:sp>
      <p:sp>
        <p:nvSpPr>
          <p:cNvPr id="16" name="Demo chip 2"/>
          <p:cNvSpPr/>
          <p:nvPr/>
        </p:nvSpPr>
        <p:spPr>
          <a:xfrm>
            <a:off x="1850746" y="3611880"/>
            <a:ext cx="1261872" cy="438912"/>
          </a:xfrm>
          <a:prstGeom prst="roundRect">
            <a:avLst>
              <a:gd name="adj" fmla="val 12500"/>
            </a:avLst>
          </a:prstGeom>
          <a:solidFill>
            <a:schemeClr val="bg1"/>
          </a:solidFill>
          <a:ln/>
          <a:effectLst>
            <a:outerShdw blurRad="76200" dist="25400" dir="5400000" algn="bl" rotWithShape="0">
              <a:srgbClr val="172033">
                <a:alpha val="12000"/>
              </a:srgbClr>
            </a:outerShdw>
          </a:effectLst>
        </p:spPr>
        <p:txBody>
          <a:bodyPr wrap="square" lIns="0" tIns="50800" rIns="50800" bIns="0" rtlCol="0" anchor="ctr"/>
          <a:lstStyle/>
          <a:p>
            <a:pPr marL="0" indent="0" algn="ctr">
              <a:buNone/>
            </a:pPr>
            <a:r>
              <a:rPr lang="en-US" sz="1200" b="1" dirty="0">
                <a:solidFill>
                  <a:schemeClr val="tx2"/>
                </a:solidFill>
              </a:rPr>
              <a:t>Approve draft order</a:t>
            </a:r>
            <a:endParaRPr lang="en-US" sz="1200" dirty="0"/>
          </a:p>
        </p:txBody>
      </p:sp>
      <p:sp>
        <p:nvSpPr>
          <p:cNvPr id="17" name="Demo chip 3"/>
          <p:cNvSpPr/>
          <p:nvPr/>
        </p:nvSpPr>
        <p:spPr>
          <a:xfrm>
            <a:off x="3244291" y="3611880"/>
            <a:ext cx="1261872" cy="438912"/>
          </a:xfrm>
          <a:prstGeom prst="roundRect">
            <a:avLst>
              <a:gd name="adj" fmla="val 12500"/>
            </a:avLst>
          </a:prstGeom>
          <a:solidFill>
            <a:schemeClr val="bg1"/>
          </a:solidFill>
          <a:ln/>
          <a:effectLst>
            <a:outerShdw blurRad="76200" dist="25400" dir="5400000" algn="bl" rotWithShape="0">
              <a:srgbClr val="172033">
                <a:alpha val="12000"/>
              </a:srgbClr>
            </a:outerShdw>
          </a:effectLst>
        </p:spPr>
        <p:txBody>
          <a:bodyPr wrap="square" lIns="0" tIns="50800" rIns="50800" bIns="0" rtlCol="0" anchor="ctr"/>
          <a:lstStyle/>
          <a:p>
            <a:pPr marL="0" indent="0" algn="ctr">
              <a:buNone/>
            </a:pPr>
            <a:r>
              <a:rPr lang="en-US" sz="1200" b="1" dirty="0">
                <a:solidFill>
                  <a:schemeClr val="tx2"/>
                </a:solidFill>
              </a:rPr>
              <a:t>Partially receive it</a:t>
            </a:r>
            <a:endParaRPr lang="en-US" sz="1200" dirty="0"/>
          </a:p>
        </p:txBody>
      </p:sp>
      <p:sp>
        <p:nvSpPr>
          <p:cNvPr id="18" name="Demo chip 4"/>
          <p:cNvSpPr/>
          <p:nvPr/>
        </p:nvSpPr>
        <p:spPr>
          <a:xfrm>
            <a:off x="4637837" y="3611880"/>
            <a:ext cx="1261872" cy="438912"/>
          </a:xfrm>
          <a:prstGeom prst="roundRect">
            <a:avLst>
              <a:gd name="adj" fmla="val 12500"/>
            </a:avLst>
          </a:prstGeom>
          <a:solidFill>
            <a:schemeClr val="bg1"/>
          </a:solidFill>
          <a:ln/>
          <a:effectLst>
            <a:outerShdw blurRad="76200" dist="25400" dir="5400000" algn="bl" rotWithShape="0">
              <a:srgbClr val="172033">
                <a:alpha val="12000"/>
              </a:srgbClr>
            </a:outerShdw>
          </a:effectLst>
        </p:spPr>
        <p:txBody>
          <a:bodyPr wrap="square" lIns="0" tIns="50800" rIns="50800" bIns="0" rtlCol="0" anchor="ctr"/>
          <a:lstStyle/>
          <a:p>
            <a:pPr marL="0" indent="0" algn="ctr">
              <a:buNone/>
            </a:pPr>
            <a:r>
              <a:rPr lang="en-US" sz="1200" b="1" dirty="0">
                <a:solidFill>
                  <a:schemeClr val="tx2"/>
                </a:solidFill>
              </a:rPr>
              <a:t>Check stock ledger</a:t>
            </a:r>
            <a:endParaRPr lang="en-US" sz="1200" dirty="0"/>
          </a:p>
        </p:txBody>
      </p:sp>
      <p:sp>
        <p:nvSpPr>
          <p:cNvPr id="19" name="Demo chip 5"/>
          <p:cNvSpPr/>
          <p:nvPr/>
        </p:nvSpPr>
        <p:spPr>
          <a:xfrm>
            <a:off x="6031382" y="3611880"/>
            <a:ext cx="1261872" cy="438912"/>
          </a:xfrm>
          <a:prstGeom prst="roundRect">
            <a:avLst>
              <a:gd name="adj" fmla="val 12500"/>
            </a:avLst>
          </a:prstGeom>
          <a:solidFill>
            <a:schemeClr val="bg1"/>
          </a:solidFill>
          <a:ln/>
          <a:effectLst>
            <a:outerShdw blurRad="76200" dist="25400" dir="5400000" algn="bl" rotWithShape="0">
              <a:srgbClr val="172033">
                <a:alpha val="12000"/>
              </a:srgbClr>
            </a:outerShdw>
          </a:effectLst>
        </p:spPr>
        <p:txBody>
          <a:bodyPr wrap="square" lIns="0" tIns="50800" rIns="50800" bIns="0" rtlCol="0" anchor="ctr"/>
          <a:lstStyle/>
          <a:p>
            <a:pPr marL="0" indent="0" algn="ctr">
              <a:buNone/>
            </a:pPr>
            <a:r>
              <a:rPr lang="en-US" sz="1200" b="1" dirty="0">
                <a:solidFill>
                  <a:schemeClr val="tx2"/>
                </a:solidFill>
              </a:rPr>
              <a:t>Make a POS sale</a:t>
            </a:r>
            <a:endParaRPr lang="en-US" sz="1200" dirty="0"/>
          </a:p>
        </p:txBody>
      </p:sp>
      <p:sp>
        <p:nvSpPr>
          <p:cNvPr id="20" name="Demo chip 6"/>
          <p:cNvSpPr/>
          <p:nvPr/>
        </p:nvSpPr>
        <p:spPr>
          <a:xfrm>
            <a:off x="7424928" y="3611880"/>
            <a:ext cx="1261872" cy="438912"/>
          </a:xfrm>
          <a:prstGeom prst="roundRect">
            <a:avLst>
              <a:gd name="adj" fmla="val 12500"/>
            </a:avLst>
          </a:prstGeom>
          <a:solidFill>
            <a:schemeClr val="accent3"/>
          </a:solidFill>
          <a:ln/>
          <a:effectLst>
            <a:outerShdw blurRad="76200" dist="25400" dir="5400000" algn="bl" rotWithShape="0">
              <a:srgbClr val="172033">
                <a:alpha val="12000"/>
              </a:srgbClr>
            </a:outerShdw>
          </a:effectLst>
        </p:spPr>
        <p:txBody>
          <a:bodyPr wrap="square" lIns="0" tIns="50800" rIns="50800" bIns="0" rtlCol="0" anchor="ctr"/>
          <a:lstStyle/>
          <a:p>
            <a:pPr marL="0" indent="0" algn="ctr">
              <a:buNone/>
            </a:pPr>
            <a:r>
              <a:rPr lang="en-US" sz="1200" b="1" dirty="0">
                <a:solidFill>
                  <a:schemeClr val="bg1"/>
                </a:solidFill>
              </a:rPr>
              <a:t>View movements and reports</a:t>
            </a:r>
            <a:endParaRPr lang="en-US" sz="1200" dirty="0"/>
          </a:p>
        </p:txBody>
      </p:sp>
      <p:sp>
        <p:nvSpPr>
          <p:cNvPr id="21" name="Closing panel"/>
          <p:cNvSpPr/>
          <p:nvPr/>
        </p:nvSpPr>
        <p:spPr>
          <a:xfrm>
            <a:off x="457200" y="4251960"/>
            <a:ext cx="8229600" cy="420624"/>
          </a:xfrm>
          <a:prstGeom prst="roundRect">
            <a:avLst>
              <a:gd name="adj" fmla="val 17391"/>
            </a:avLst>
          </a:prstGeom>
          <a:solidFill>
            <a:schemeClr val="tx2"/>
          </a:solidFill>
          <a:ln/>
        </p:spPr>
      </p:sp>
      <p:sp>
        <p:nvSpPr>
          <p:cNvPr id="22" name="Closing text"/>
          <p:cNvSpPr txBox="1"/>
          <p:nvPr/>
        </p:nvSpPr>
        <p:spPr>
          <a:xfrm>
            <a:off x="640080" y="4251960"/>
            <a:ext cx="7863840" cy="420624"/>
          </a:xfrm>
          <a:prstGeom prst="rect">
            <a:avLst/>
          </a:prstGeom>
          <a:noFill/>
          <a:ln/>
        </p:spPr>
        <p:txBody>
          <a:bodyPr wrap="square" lIns="0" tIns="0" rIns="0" bIns="0" rtlCol="0" anchor="ctr"/>
          <a:lstStyle/>
          <a:p>
            <a:pPr marL="0" indent="0">
              <a:buNone/>
            </a:pPr>
            <a:r>
              <a:rPr lang="en-US" sz="1300" b="1" dirty="0">
                <a:solidFill>
                  <a:schemeClr val="bg1"/>
                </a:solidFill>
              </a:rPr>
              <a:t>One connected retail workflow. One auditable source of stock truth. Clear access for every role.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2785110" y="2110740"/>
            <a:ext cx="3074670" cy="914400"/>
          </a:xfrm>
          <a:prstGeom prst="rect">
            <a:avLst/>
          </a:prstGeom>
          <a:noFill/>
          <a:ln/>
        </p:spPr>
        <p:txBody>
          <a:bodyPr wrap="square" lIns="0" tIns="0" rIns="0" bIns="0" rtlCol="0" anchor="ctr"/>
          <a:lstStyle/>
          <a:p>
            <a:pPr marL="0" indent="0" algn="l">
              <a:buNone/>
            </a:pPr>
            <a:r>
              <a:rPr lang="en-US" sz="4800" b="1" dirty="0">
                <a:solidFill>
                  <a:schemeClr val="bg1"/>
                </a:solidFill>
              </a:rPr>
              <a:t>Thank you</a:t>
            </a:r>
            <a:endParaRPr lang="en-US" sz="4800" dirty="0"/>
          </a:p>
        </p:txBody>
      </p:sp>
      <p:sp>
        <p:nvSpPr>
          <p:cNvPr id="4" name="Divider"/>
          <p:cNvSpPr/>
          <p:nvPr/>
        </p:nvSpPr>
        <p:spPr>
          <a:xfrm>
            <a:off x="548640" y="3474720"/>
            <a:ext cx="8046720" cy="0"/>
          </a:xfrm>
          <a:prstGeom prst="line">
            <a:avLst/>
          </a:prstGeom>
          <a:noFill/>
          <a:ln w="9525">
            <a:solidFill>
              <a:schemeClr val="accent6">
                <a:alpha val="50000"/>
              </a:schemeClr>
            </a:solidFill>
            <a:prstDash val="solid"/>
          </a:ln>
        </p:spPr>
      </p:sp>
      <p:sp>
        <p:nvSpPr>
          <p:cNvPr id="5" name="Presenters"/>
          <p:cNvSpPr txBox="1"/>
          <p:nvPr/>
        </p:nvSpPr>
        <p:spPr>
          <a:xfrm>
            <a:off x="548640" y="3749040"/>
            <a:ext cx="5486400" cy="274320"/>
          </a:xfrm>
          <a:prstGeom prst="rect">
            <a:avLst/>
          </a:prstGeom>
          <a:noFill/>
          <a:ln/>
        </p:spPr>
        <p:txBody>
          <a:bodyPr wrap="square" lIns="0" tIns="0" rIns="0" bIns="0" rtlCol="0" anchor="ctr"/>
          <a:lstStyle/>
          <a:p>
            <a:pPr marL="0" indent="0">
              <a:buNone/>
            </a:pPr>
            <a:r>
              <a:rPr lang="en-US" sz="1300" b="1" dirty="0">
                <a:solidFill>
                  <a:schemeClr val="bg1"/>
                </a:solidFill>
              </a:rPr>
              <a:t>Kuldeep Choudhary  ·  Mudavath Tharun  ·  Shubham Shekhawat</a:t>
            </a:r>
            <a:endParaRPr lang="en-US" sz="1300" dirty="0"/>
          </a:p>
        </p:txBody>
      </p:sp>
      <p:sp>
        <p:nvSpPr>
          <p:cNvPr id="6" name="Trainer"/>
          <p:cNvSpPr txBox="1"/>
          <p:nvPr/>
        </p:nvSpPr>
        <p:spPr>
          <a:xfrm>
            <a:off x="548640" y="4069080"/>
            <a:ext cx="5486400" cy="274320"/>
          </a:xfrm>
          <a:prstGeom prst="rect">
            <a:avLst/>
          </a:prstGeom>
          <a:noFill/>
          <a:ln/>
        </p:spPr>
        <p:txBody>
          <a:bodyPr wrap="square" lIns="0" tIns="0" rIns="0" bIns="0" rtlCol="0" anchor="ctr"/>
          <a:lstStyle/>
          <a:p>
            <a:pPr marL="0" indent="0">
              <a:buNone/>
            </a:pPr>
            <a:r>
              <a:rPr lang="en-US" sz="1200" dirty="0">
                <a:solidFill>
                  <a:schemeClr val="accent6"/>
                </a:solidFill>
              </a:rPr>
              <a:t>Trainer: Rishabh Verma</a:t>
            </a:r>
            <a:endParaRPr lang="en-US" sz="1200" dirty="0"/>
          </a:p>
        </p:txBody>
      </p:sp>
      <p:sp>
        <p:nvSpPr>
          <p:cNvPr id="7" name="Tagline"/>
          <p:cNvSpPr txBox="1"/>
          <p:nvPr/>
        </p:nvSpPr>
        <p:spPr>
          <a:xfrm>
            <a:off x="5669280" y="3749040"/>
            <a:ext cx="3017520" cy="594360"/>
          </a:xfrm>
          <a:prstGeom prst="rect">
            <a:avLst/>
          </a:prstGeom>
          <a:noFill/>
          <a:ln/>
        </p:spPr>
        <p:txBody>
          <a:bodyPr wrap="square" lIns="0" tIns="0" rIns="0" bIns="0" rtlCol="0" anchor="t"/>
          <a:lstStyle/>
          <a:p>
            <a:pPr marL="0" indent="0" algn="r">
              <a:buNone/>
            </a:pPr>
            <a:r>
              <a:rPr lang="en-US" sz="1400" b="1" dirty="0">
                <a:solidFill>
                  <a:schemeClr val="accent2"/>
                </a:solidFill>
              </a:rPr>
              <a:t>One connected workflow. One auditable source of stock truth.</a:t>
            </a:r>
            <a:endParaRPr lang="en-US" sz="1400" dirty="0"/>
          </a:p>
        </p:txBody>
      </p:sp>
      <p:pic>
        <p:nvPicPr>
          <p:cNvPr id="15" name="Picture 14">
            <a:extLst>
              <a:ext uri="{FF2B5EF4-FFF2-40B4-BE49-F238E27FC236}">
                <a16:creationId xmlns:a16="http://schemas.microsoft.com/office/drawing/2014/main" id="{5E8974EB-7D68-FEF0-A34A-1B3FD4603D08}"/>
              </a:ext>
            </a:extLst>
          </p:cNvPr>
          <p:cNvPicPr>
            <a:picLocks noChangeAspect="1"/>
          </p:cNvPicPr>
          <p:nvPr/>
        </p:nvPicPr>
        <p:blipFill>
          <a:blip r:embed="rId3"/>
          <a:stretch>
            <a:fillRect/>
          </a:stretch>
        </p:blipFill>
        <p:spPr>
          <a:xfrm>
            <a:off x="3429000" y="1405959"/>
            <a:ext cx="1738999" cy="659061"/>
          </a:xfrm>
          <a:prstGeom prst="rect">
            <a:avLst/>
          </a:prstGeom>
        </p:spPr>
      </p:pic>
    </p:spTree>
  </p:cSld>
  <p:clrMapOvr>
    <a:masterClrMapping/>
  </p:clrMapOvr>
</p:sld>
</file>

<file path=ppt/theme/theme1.xml><?xml version="1.0" encoding="utf-8"?>
<a:theme xmlns:a="http://schemas.openxmlformats.org/drawingml/2006/main" name="Retail Inventory">
  <a:themeElements>
    <a:clrScheme name="Retail Inventory">
      <a:dk1>
        <a:srgbClr val="172033"/>
      </a:dk1>
      <a:lt1>
        <a:srgbClr val="FFFFFF"/>
      </a:lt1>
      <a:dk2>
        <a:srgbClr val="123B68"/>
      </a:dk2>
      <a:lt2>
        <a:srgbClr val="F7F9FC"/>
      </a:lt2>
      <a:accent1>
        <a:srgbClr val="2F6DB5"/>
      </a:accent1>
      <a:accent2>
        <a:srgbClr val="E8A33D"/>
      </a:accent2>
      <a:accent3>
        <a:srgbClr val="1F9D8A"/>
      </a:accent3>
      <a:accent4>
        <a:srgbClr val="C8553D"/>
      </a:accent4>
      <a:accent5>
        <a:srgbClr val="56657F"/>
      </a:accent5>
      <a:accent6>
        <a:srgbClr val="A9C8F0"/>
      </a:accent6>
      <a:hlink>
        <a:srgbClr val="2F6DB5"/>
      </a:hlink>
      <a:folHlink>
        <a:srgbClr val="56657F"/>
      </a:folHlink>
    </a:clrScheme>
    <a:fontScheme name="Retail Inven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1433</Words>
  <Application>Microsoft Office PowerPoint</Application>
  <PresentationFormat>On-screen Show (16:9)</PresentationFormat>
  <Paragraphs>198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Courier New</vt:lpstr>
      <vt:lpstr>Retail Inventory</vt:lpstr>
      <vt:lpstr>Retail Inventory &amp; Purchase-Order Management</vt:lpstr>
      <vt:lpstr>The problem and our solution</vt:lpstr>
      <vt:lpstr>Users, permissions, and modules</vt:lpstr>
      <vt:lpstr>End-to-end business workflow</vt:lpstr>
      <vt:lpstr>Architecture and Docker deployment</vt:lpstr>
      <vt:lpstr>Data model and the inventory ledger</vt:lpstr>
      <vt:lpstr>Security, controls, and reporting</vt:lpstr>
      <vt:lpstr>Run, test, and present</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Inventory &amp; Purchase-Order Management</dc:title>
  <dc:subject>PptxGenJS Presentation</dc:subject>
  <dc:creator>Kuldeep Choudhary, M. Tharun, Shubham Shekhawat</dc:creator>
  <cp:lastModifiedBy>tharunraj mudavath</cp:lastModifiedBy>
  <cp:revision>2</cp:revision>
  <dcterms:created xsi:type="dcterms:W3CDTF">2026-10-27T05:18:34Z</dcterms:created>
  <dcterms:modified xsi:type="dcterms:W3CDTF">2026-10-27T06:16:02Z</dcterms:modified>
</cp:coreProperties>
</file>