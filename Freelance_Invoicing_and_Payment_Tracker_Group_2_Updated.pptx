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182880"/>
            <a:ext cx="2926080" cy="2926080"/>
          </a:xfrm>
          <a:prstGeom prst="ellipse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9784080" y="3383280"/>
            <a:ext cx="2011680" cy="2011680"/>
          </a:xfrm>
          <a:prstGeom prst="ellipse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8138160" y="4846320"/>
            <a:ext cx="1097280" cy="1097280"/>
          </a:xfrm>
          <a:prstGeom prst="ellipse">
            <a:avLst/>
          </a:prstGeom>
          <a:solidFill>
            <a:srgbClr val="E2A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23366" y="607494"/>
            <a:ext cx="1224871" cy="262019"/>
          </a:xfrm>
          <a:prstGeom prst="roundRect">
            <a:avLst/>
          </a:prstGeom>
          <a:solidFill>
            <a:srgbClr val="383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0374" y="576211"/>
            <a:ext cx="1170432" cy="336887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382" y="1924305"/>
            <a:ext cx="6412672" cy="106567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3200" b="1" i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BillYourTime</a:t>
            </a:r>
            <a:r>
              <a:rPr lang="en-US" sz="32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(BYT) - </a:t>
            </a:r>
            <a:r>
              <a:rPr sz="32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 Invoicing and Payment Tracker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730752"/>
            <a:ext cx="6217920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Members:-</a:t>
            </a:r>
            <a:endParaRPr sz="1100" b="1" i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4096512"/>
            <a:ext cx="6217920" cy="97366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V D N </a:t>
            </a:r>
            <a:r>
              <a:rPr sz="17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Sathwik</a:t>
            </a:r>
            <a:r>
              <a:rPr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Yarlagadda
2.  Siddharth </a:t>
            </a:r>
            <a:r>
              <a:rPr sz="17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Suddala</a:t>
            </a:r>
            <a:r>
              <a:rPr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3.  Shaik </a:t>
            </a:r>
            <a:r>
              <a:rPr sz="1700" b="1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Guffran</a:t>
            </a:r>
            <a:r>
              <a:rPr sz="17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Ahmed</a:t>
            </a:r>
          </a:p>
        </p:txBody>
      </p:sp>
      <p:pic>
        <p:nvPicPr>
          <p:cNvPr id="13" name="Picture 2" descr="AI-Driven Cloud, Data &amp; Enterprise Platforms Engineering Services">
            <a:extLst>
              <a:ext uri="{FF2B5EF4-FFF2-40B4-BE49-F238E27FC236}">
                <a16:creationId xmlns:a16="http://schemas.microsoft.com/office/drawing/2014/main" id="{12FD842A-0B09-4991-A56B-939E4551D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3" t="29473" r="5892" b="25081"/>
          <a:stretch/>
        </p:blipFill>
        <p:spPr bwMode="auto">
          <a:xfrm>
            <a:off x="2753569" y="341268"/>
            <a:ext cx="3467947" cy="90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CB490F4-F1A5-449D-9F73-46FC08C93653}"/>
              </a:ext>
            </a:extLst>
          </p:cNvPr>
          <p:cNvSpPr/>
          <p:nvPr/>
        </p:nvSpPr>
        <p:spPr>
          <a:xfrm>
            <a:off x="4922991" y="5817557"/>
            <a:ext cx="6096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Rishabh Verma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754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Project Overview &amp; User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60120" cy="5029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7632" y="722376"/>
            <a:ext cx="987552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role-based workspace from client request to delivery and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94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252728"/>
            <a:ext cx="64008" cy="119786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1289304"/>
            <a:ext cx="5047488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73352"/>
            <a:ext cx="5047488" cy="53386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 freelance work: project requests, time tracking, work review, invoicing, and demo payment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252728"/>
            <a:ext cx="64008" cy="1197864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289304"/>
            <a:ext cx="5001768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is — and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73352"/>
            <a:ext cx="5001768" cy="72885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full-stack workflow application and demo ledger. It records cash/card payment entries; it is not a payment gateway and does not move money or store real card details.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88920"/>
            <a:ext cx="5120640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USER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182112"/>
            <a:ext cx="5394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" y="3291840"/>
            <a:ext cx="64008" cy="174650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5528" y="3348635"/>
            <a:ext cx="5047488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627905"/>
            <a:ext cx="4513742" cy="154080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2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Manages clients and projects
• Logs time and tracks work
• Creates and sends invoices
• Records and monitors payments
• Uses Dashboard, Clients, Projects, Time, Invoices, Payments, and Project 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82112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64008" cy="1746504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19088" y="3328416"/>
            <a:ext cx="5001768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712463"/>
            <a:ext cx="5001768" cy="105798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2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Posts a project request and receives a one-time code
• Reviews submitted work and approves or requests revisions
• Views sent invoices and payment history
• Records demo payments through the client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32120"/>
            <a:ext cx="10789920" cy="29149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principle: </a:t>
            </a:r>
            <a:r>
              <a:rPr lang="en-US" sz="150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50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 role sees only the records it is authorized to access; the API enforces ownership and billing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754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Project Acquisition, Delivery &amp;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60120" cy="5029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7632" y="722376"/>
            <a:ext cx="987552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Six-step workflow for turning a client request into approved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" y="1344168"/>
            <a:ext cx="566928" cy="310896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2103" y="1369598"/>
            <a:ext cx="512064" cy="223459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344168"/>
            <a:ext cx="64008" cy="135331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1380744"/>
            <a:ext cx="289864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posts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764792"/>
            <a:ext cx="2898648" cy="443135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1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Publishes a title, scope, contact details, and a positive hourly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344168"/>
            <a:ext cx="566928" cy="310896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52544" y="1369598"/>
            <a:ext cx="512064" cy="223459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23444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0520" y="1344168"/>
            <a:ext cx="64008" cy="1353312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61688" y="1380744"/>
            <a:ext cx="289864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One-time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1764792"/>
            <a:ext cx="2898648" cy="443135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1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app generates a code; only the owning client receives the raw code.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5552" y="1344168"/>
            <a:ext cx="566928" cy="310896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72983" y="1369598"/>
            <a:ext cx="512064" cy="223459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23444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680960" y="1344168"/>
            <a:ext cx="64008" cy="135331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82128" y="1380744"/>
            <a:ext cx="289864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8" y="1764792"/>
            <a:ext cx="2898648" cy="83413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1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 enters the code on the Project Board; the app creates or reuses the client contact and creates a project at the offered rate.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" y="3447288"/>
            <a:ext cx="566928" cy="310896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2103" y="3472718"/>
            <a:ext cx="512064" cy="223459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33756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0080" y="3447288"/>
            <a:ext cx="64008" cy="1353312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1247" y="3483864"/>
            <a:ext cx="289864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is logged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867911"/>
            <a:ext cx="2898648" cy="63863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1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time entry stores the rate used when created, preserving earlier charges if the rate later changes.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25112" y="3447288"/>
            <a:ext cx="566928" cy="310896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352544" y="3472718"/>
            <a:ext cx="512064" cy="223459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333756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160520" y="3447288"/>
            <a:ext cx="64008" cy="135331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61688" y="3483864"/>
            <a:ext cx="289864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submitted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3867911"/>
            <a:ext cx="2898648" cy="63863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1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 adds completion notes. Client approves the submission or requests a revision with feedback.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45552" y="3447288"/>
            <a:ext cx="566928" cy="310896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72983" y="3472718"/>
            <a:ext cx="512064" cy="223459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333756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680960" y="3447288"/>
            <a:ext cx="64008" cy="1353312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82128" y="3483864"/>
            <a:ext cx="289864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invoice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8" y="3867911"/>
            <a:ext cx="2898648" cy="63863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1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approval, the freelancer can create one final invoice from remaining unbilled hours; invoice status then continues independently.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23560"/>
            <a:ext cx="10789920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point: </a:t>
            </a:r>
            <a:r>
              <a:rPr lang="en-US" sz="140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40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one-time code is claimable only once; work review is separate from invoice and payment status.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510528"/>
            <a:ext cx="411480" cy="18288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754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Invoice &amp; Payment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60120" cy="5029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7632" y="722376"/>
            <a:ext cx="987552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Billing is calculated on the server and tracked as a separate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640080" cy="658368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1289863"/>
            <a:ext cx="566928" cy="291490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1328" y="1152144"/>
            <a:ext cx="100126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81328" y="1261872"/>
            <a:ext cx="64008" cy="493776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82496" y="1298448"/>
            <a:ext cx="9665207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1534165"/>
            <a:ext cx="9665207" cy="25372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 selects unbilled time entries. Server-side calculations determine line values, subtotal, tax, and total.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03120"/>
            <a:ext cx="640080" cy="658368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44" y="2222550"/>
            <a:ext cx="566928" cy="291490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81328" y="2084831"/>
            <a:ext cx="100126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81328" y="2194560"/>
            <a:ext cx="64008" cy="493776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82496" y="2231136"/>
            <a:ext cx="9665207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2466808"/>
            <a:ext cx="9665207" cy="25372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draft becomes visible to the client only after it is sent; client portal queries exclude drafts.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35808"/>
            <a:ext cx="640080" cy="658368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4944" y="3155239"/>
            <a:ext cx="566928" cy="291490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81328" y="3017520"/>
            <a:ext cx="100126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481328" y="3127248"/>
            <a:ext cx="64008" cy="493776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82496" y="3163824"/>
            <a:ext cx="9665207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pays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2496" y="3424429"/>
            <a:ext cx="9665207" cy="25372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enters a positive payment up to the outstanding balance, chooses Cash or Card, and may add a reference.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968496"/>
            <a:ext cx="640080" cy="658368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" y="4087927"/>
            <a:ext cx="566928" cy="291490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81328" y="3950208"/>
            <a:ext cx="100126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481328" y="4059936"/>
            <a:ext cx="64008" cy="493776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82496" y="4096512"/>
            <a:ext cx="9665207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Ledger updates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5" y="4311398"/>
            <a:ext cx="9665207" cy="25372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records the payment, updates amount paid, recalculates the remaining balance, and shows it to both roles.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01184"/>
            <a:ext cx="640080" cy="658368"/>
          </a:xfrm>
          <a:prstGeom prst="roundRect">
            <a:avLst/>
          </a:prstGeom>
          <a:solidFill>
            <a:srgbClr val="EF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4944" y="5020615"/>
            <a:ext cx="566928" cy="291490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81328" y="4882896"/>
            <a:ext cx="100126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481328" y="4992624"/>
            <a:ext cx="64008" cy="493776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82496" y="5029200"/>
            <a:ext cx="9665207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changes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82494" y="5234941"/>
            <a:ext cx="9665207" cy="253724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status becomes sent, partially paid, paid, or overdue based on payments and due date.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89320"/>
            <a:ext cx="10789920" cy="26885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Billing safeguards: </a:t>
            </a:r>
            <a:r>
              <a:rPr lang="en-US" sz="135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35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verpayments are rejected; billed time cannot be edited; the first payment locks invoice edits to preserve the audit trail.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754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60120" cy="5029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7632" y="722376"/>
            <a:ext cx="987552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Three-service container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063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527048"/>
            <a:ext cx="64008" cy="192938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2715768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+ Vite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2715768" cy="152704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2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React 18, React Router, Axios
• Runs on port 5173
• Responsive freelancer and client screens
• Development proxy forwards /api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063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0" y="1527048"/>
            <a:ext cx="64008" cy="1929384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3168" y="1563624"/>
            <a:ext cx="2715768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47672"/>
            <a:ext cx="2715768" cy="152704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2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Python 3.12+ and Flask 3.1
• Runs on port 5000
• Auth, freelancer, and client-portal blueprints
• Validates input, authorizes access, calculates billing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417320"/>
            <a:ext cx="3063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503920" y="1527048"/>
            <a:ext cx="64008" cy="1929384"/>
          </a:xfrm>
          <a:prstGeom prst="rect">
            <a:avLst/>
          </a:prstGeom>
          <a:solidFill>
            <a:srgbClr val="E2A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05088" y="1563624"/>
            <a:ext cx="2715768" cy="3066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1947672"/>
            <a:ext cx="2715768" cy="1271245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2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MongoDB 7 on port 27017
• Stores collections and counters
• Persists token blocklist
• Named Docker volume preserves data across restarts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22191" y="2212848"/>
            <a:ext cx="530352" cy="347472"/>
          </a:xfrm>
          <a:prstGeom prst="rightArrow">
            <a:avLst/>
          </a:prstGeom>
          <a:solidFill>
            <a:srgbClr val="64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754112" y="2212848"/>
            <a:ext cx="530352" cy="347472"/>
          </a:xfrm>
          <a:prstGeom prst="rightArrow">
            <a:avLst/>
          </a:prstGeom>
          <a:solidFill>
            <a:srgbClr val="646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4069080"/>
            <a:ext cx="10607040" cy="261225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/ RESPONSE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34840"/>
            <a:ext cx="10789920" cy="83144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2A2D41"/>
                </a:solidFill>
                <a:latin typeface="Aptos"/>
              </a:defRPr>
            </a:pPr>
            <a:r>
              <a:rPr sz="140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400" b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sz="140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presents role-specific views and sends API requests through Axios.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2A2D41"/>
                </a:solidFill>
                <a:latin typeface="Aptos"/>
              </a:defRPr>
            </a:pPr>
            <a:r>
              <a:rPr sz="140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400" b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API: </a:t>
            </a:r>
            <a:r>
              <a:rPr sz="140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authentication, role checks, business rules, calculations, and centralized error responses.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400">
                <a:solidFill>
                  <a:srgbClr val="2A2D41"/>
                </a:solidFill>
                <a:latin typeface="Aptos"/>
              </a:defRPr>
            </a:pPr>
            <a:r>
              <a:rPr sz="140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400" b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sz="140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identity, work, billing, project-post, and security records.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58">
            <a:extLst>
              <a:ext uri="{FF2B5EF4-FFF2-40B4-BE49-F238E27FC236}">
                <a16:creationId xmlns:a16="http://schemas.microsoft.com/office/drawing/2014/main" id="{02B8511F-F456-45F2-AB58-6162200C7764}"/>
              </a:ext>
            </a:extLst>
          </p:cNvPr>
          <p:cNvSpPr txBox="1"/>
          <p:nvPr/>
        </p:nvSpPr>
        <p:spPr>
          <a:xfrm>
            <a:off x="566928" y="256032"/>
            <a:ext cx="1069848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2800" b="1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600" b="1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 &amp; API Design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0D39F75-608B-48B3-8B68-B3947C84C196}"/>
              </a:ext>
            </a:extLst>
          </p:cNvPr>
          <p:cNvSpPr/>
          <p:nvPr/>
        </p:nvSpPr>
        <p:spPr>
          <a:xfrm>
            <a:off x="594360" y="859536"/>
            <a:ext cx="868680" cy="5029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FF502E-B1E3-429C-A293-CC0630C72DFA}"/>
              </a:ext>
            </a:extLst>
          </p:cNvPr>
          <p:cNvSpPr txBox="1"/>
          <p:nvPr/>
        </p:nvSpPr>
        <p:spPr>
          <a:xfrm>
            <a:off x="1627632" y="749808"/>
            <a:ext cx="960120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Collections are grouped by identity, work, billing, and project acquisition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214B96-E2E4-4076-A1F5-339A80AE71B7}"/>
              </a:ext>
            </a:extLst>
          </p:cNvPr>
          <p:cNvSpPr txBox="1"/>
          <p:nvPr/>
        </p:nvSpPr>
        <p:spPr>
          <a:xfrm>
            <a:off x="11109960" y="6473952"/>
            <a:ext cx="502920" cy="2200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63" name="Rounded Rectangle 5">
            <a:extLst>
              <a:ext uri="{FF2B5EF4-FFF2-40B4-BE49-F238E27FC236}">
                <a16:creationId xmlns:a16="http://schemas.microsoft.com/office/drawing/2014/main" id="{365048B5-E718-4D48-8FDE-69FF325302EC}"/>
              </a:ext>
            </a:extLst>
          </p:cNvPr>
          <p:cNvSpPr/>
          <p:nvPr/>
        </p:nvSpPr>
        <p:spPr>
          <a:xfrm>
            <a:off x="658368" y="1234440"/>
            <a:ext cx="52852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F7B5E3-6B24-4538-ACE0-4769AC31304E}"/>
              </a:ext>
            </a:extLst>
          </p:cNvPr>
          <p:cNvSpPr/>
          <p:nvPr/>
        </p:nvSpPr>
        <p:spPr>
          <a:xfrm>
            <a:off x="658368" y="1344168"/>
            <a:ext cx="54864" cy="128930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0AEE8C-8BE5-467D-9903-E4588B45422A}"/>
              </a:ext>
            </a:extLst>
          </p:cNvPr>
          <p:cNvSpPr txBox="1"/>
          <p:nvPr/>
        </p:nvSpPr>
        <p:spPr>
          <a:xfrm>
            <a:off x="841247" y="1344168"/>
            <a:ext cx="4974336" cy="2600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A63E3E-FA69-4F1E-9DC9-D4E9CCA1C338}"/>
              </a:ext>
            </a:extLst>
          </p:cNvPr>
          <p:cNvSpPr txBox="1"/>
          <p:nvPr/>
        </p:nvSpPr>
        <p:spPr>
          <a:xfrm>
            <a:off x="841247" y="1655064"/>
            <a:ext cx="4974336" cy="112646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
users · token_blocklist
PURPOSE
Unique email, role, password hash, and business name. Revoked JWT IDs are blocked.</a:t>
            </a:r>
          </a:p>
        </p:txBody>
      </p:sp>
      <p:sp>
        <p:nvSpPr>
          <p:cNvPr id="67" name="Rounded Rectangle 9">
            <a:extLst>
              <a:ext uri="{FF2B5EF4-FFF2-40B4-BE49-F238E27FC236}">
                <a16:creationId xmlns:a16="http://schemas.microsoft.com/office/drawing/2014/main" id="{1258915C-874D-44AA-A550-9DFE559A09F9}"/>
              </a:ext>
            </a:extLst>
          </p:cNvPr>
          <p:cNvSpPr/>
          <p:nvPr/>
        </p:nvSpPr>
        <p:spPr>
          <a:xfrm>
            <a:off x="6236208" y="1234440"/>
            <a:ext cx="52852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F676F3E-8D0C-4A8D-ADAE-50E748B4399B}"/>
              </a:ext>
            </a:extLst>
          </p:cNvPr>
          <p:cNvSpPr/>
          <p:nvPr/>
        </p:nvSpPr>
        <p:spPr>
          <a:xfrm>
            <a:off x="6236208" y="1344168"/>
            <a:ext cx="54864" cy="1289304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6520695-4FCE-4C25-9D78-BF25698B85CB}"/>
              </a:ext>
            </a:extLst>
          </p:cNvPr>
          <p:cNvSpPr txBox="1"/>
          <p:nvPr/>
        </p:nvSpPr>
        <p:spPr>
          <a:xfrm>
            <a:off x="6419088" y="1344168"/>
            <a:ext cx="4974336" cy="2600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C9A627-ADC4-4DB3-8982-621C5A9FF551}"/>
              </a:ext>
            </a:extLst>
          </p:cNvPr>
          <p:cNvSpPr txBox="1"/>
          <p:nvPr/>
        </p:nvSpPr>
        <p:spPr>
          <a:xfrm>
            <a:off x="6419088" y="1655064"/>
            <a:ext cx="4974336" cy="94487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
clients · projects · time_entries · project_review_events
PURPOSE
Freelancer owns client records; projects contain time and review history.</a:t>
            </a:r>
          </a:p>
        </p:txBody>
      </p:sp>
      <p:sp>
        <p:nvSpPr>
          <p:cNvPr id="71" name="Rounded Rectangle 13">
            <a:extLst>
              <a:ext uri="{FF2B5EF4-FFF2-40B4-BE49-F238E27FC236}">
                <a16:creationId xmlns:a16="http://schemas.microsoft.com/office/drawing/2014/main" id="{621ED19E-AACD-45C3-BC0E-6497A6B6E80A}"/>
              </a:ext>
            </a:extLst>
          </p:cNvPr>
          <p:cNvSpPr/>
          <p:nvPr/>
        </p:nvSpPr>
        <p:spPr>
          <a:xfrm>
            <a:off x="658368" y="2999232"/>
            <a:ext cx="52852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8729728-49CD-4023-A7E7-EB3514A68F56}"/>
              </a:ext>
            </a:extLst>
          </p:cNvPr>
          <p:cNvSpPr/>
          <p:nvPr/>
        </p:nvSpPr>
        <p:spPr>
          <a:xfrm>
            <a:off x="658368" y="3108960"/>
            <a:ext cx="54864" cy="1289304"/>
          </a:xfrm>
          <a:prstGeom prst="rect">
            <a:avLst/>
          </a:prstGeom>
          <a:solidFill>
            <a:srgbClr val="E2A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DD1345-0B79-4311-B168-02E5E92AF324}"/>
              </a:ext>
            </a:extLst>
          </p:cNvPr>
          <p:cNvSpPr txBox="1"/>
          <p:nvPr/>
        </p:nvSpPr>
        <p:spPr>
          <a:xfrm>
            <a:off x="841247" y="3108960"/>
            <a:ext cx="4974336" cy="2600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8CC0C19-6D01-4F49-952C-59794AC782A9}"/>
              </a:ext>
            </a:extLst>
          </p:cNvPr>
          <p:cNvSpPr txBox="1"/>
          <p:nvPr/>
        </p:nvSpPr>
        <p:spPr>
          <a:xfrm>
            <a:off x="847846" y="3408072"/>
            <a:ext cx="4974336" cy="112646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
invoices · </a:t>
            </a:r>
            <a:r>
              <a:rPr sz="1180" b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invoice_line_items</a:t>
            </a:r>
            <a:r>
              <a:rPr sz="1180" b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payments
PURPOSE
Invoices belong to clients; payments belong to invoices. A project can have one final invoice.</a:t>
            </a: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6068F443-C0A7-4B31-AAE7-29E1627095D1}"/>
              </a:ext>
            </a:extLst>
          </p:cNvPr>
          <p:cNvSpPr/>
          <p:nvPr/>
        </p:nvSpPr>
        <p:spPr>
          <a:xfrm>
            <a:off x="6236208" y="2999232"/>
            <a:ext cx="52852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2AEAFEC-53AB-48E2-AB20-4879486C6EA4}"/>
              </a:ext>
            </a:extLst>
          </p:cNvPr>
          <p:cNvSpPr/>
          <p:nvPr/>
        </p:nvSpPr>
        <p:spPr>
          <a:xfrm>
            <a:off x="6236208" y="3108960"/>
            <a:ext cx="54864" cy="128930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86FD07-B19D-4B03-928A-6969D86B8684}"/>
              </a:ext>
            </a:extLst>
          </p:cNvPr>
          <p:cNvSpPr txBox="1"/>
          <p:nvPr/>
        </p:nvSpPr>
        <p:spPr>
          <a:xfrm>
            <a:off x="6419088" y="3108960"/>
            <a:ext cx="4974336" cy="2600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POSTS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E5EBFAA-51DB-4B4E-9C8F-C7C398771103}"/>
              </a:ext>
            </a:extLst>
          </p:cNvPr>
          <p:cNvSpPr txBox="1"/>
          <p:nvPr/>
        </p:nvSpPr>
        <p:spPr>
          <a:xfrm>
            <a:off x="6419088" y="3392424"/>
            <a:ext cx="4974336" cy="112646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
</a:t>
            </a:r>
            <a:r>
              <a:rPr sz="1180" b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project_posts</a:t>
            </a:r>
            <a:r>
              <a:rPr sz="1180" b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sz="1180" b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project_post_codes</a:t>
            </a:r>
            <a:r>
              <a:rPr sz="1180" b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PURPOSE
Client-owned discovery posts. Only hashed one-time codes are stored, and each successful claim links one project.</a:t>
            </a:r>
          </a:p>
        </p:txBody>
      </p:sp>
      <p:sp>
        <p:nvSpPr>
          <p:cNvPr id="79" name="Rounded Rectangle 21">
            <a:extLst>
              <a:ext uri="{FF2B5EF4-FFF2-40B4-BE49-F238E27FC236}">
                <a16:creationId xmlns:a16="http://schemas.microsoft.com/office/drawing/2014/main" id="{FB6093D2-5E68-4D61-A8DC-AB2B94272F9F}"/>
              </a:ext>
            </a:extLst>
          </p:cNvPr>
          <p:cNvSpPr/>
          <p:nvPr/>
        </p:nvSpPr>
        <p:spPr>
          <a:xfrm>
            <a:off x="658368" y="4864608"/>
            <a:ext cx="528523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05701A2-8F2A-4FC7-AEBB-8A5651C17D14}"/>
              </a:ext>
            </a:extLst>
          </p:cNvPr>
          <p:cNvSpPr/>
          <p:nvPr/>
        </p:nvSpPr>
        <p:spPr>
          <a:xfrm>
            <a:off x="658368" y="4974336"/>
            <a:ext cx="54864" cy="74066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CFE9FF-4E3D-4609-8FD3-A7C0A3FD03F1}"/>
              </a:ext>
            </a:extLst>
          </p:cNvPr>
          <p:cNvSpPr txBox="1"/>
          <p:nvPr/>
        </p:nvSpPr>
        <p:spPr>
          <a:xfrm>
            <a:off x="841247" y="4974336"/>
            <a:ext cx="4974336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CONVENTIONS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C5BF8C2-4847-4E1F-8E0F-170E6169B534}"/>
              </a:ext>
            </a:extLst>
          </p:cNvPr>
          <p:cNvSpPr txBox="1"/>
          <p:nvPr/>
        </p:nvSpPr>
        <p:spPr>
          <a:xfrm>
            <a:off x="841247" y="5285232"/>
            <a:ext cx="4974336" cy="2092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endpoints use /api. Lists support page, per_page, sort, order, and selected filters.</a:t>
            </a:r>
          </a:p>
        </p:txBody>
      </p:sp>
      <p:sp>
        <p:nvSpPr>
          <p:cNvPr id="83" name="Rounded Rectangle 25">
            <a:extLst>
              <a:ext uri="{FF2B5EF4-FFF2-40B4-BE49-F238E27FC236}">
                <a16:creationId xmlns:a16="http://schemas.microsoft.com/office/drawing/2014/main" id="{C015A438-16BC-4529-B9D5-CD4B7FB21913}"/>
              </a:ext>
            </a:extLst>
          </p:cNvPr>
          <p:cNvSpPr/>
          <p:nvPr/>
        </p:nvSpPr>
        <p:spPr>
          <a:xfrm>
            <a:off x="6236208" y="4864608"/>
            <a:ext cx="5285232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5F0B56D-77DC-4CAE-BB92-48ECBF3D761C}"/>
              </a:ext>
            </a:extLst>
          </p:cNvPr>
          <p:cNvSpPr/>
          <p:nvPr/>
        </p:nvSpPr>
        <p:spPr>
          <a:xfrm>
            <a:off x="6236208" y="4974336"/>
            <a:ext cx="54864" cy="740664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166573-A901-4B81-B77C-351D8265FD72}"/>
              </a:ext>
            </a:extLst>
          </p:cNvPr>
          <p:cNvSpPr txBox="1"/>
          <p:nvPr/>
        </p:nvSpPr>
        <p:spPr>
          <a:xfrm>
            <a:off x="6419088" y="4974336"/>
            <a:ext cx="4974336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BOUNDARIES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F5AFAC-F062-4885-A3BF-2546BD0CFFC7}"/>
              </a:ext>
            </a:extLst>
          </p:cNvPr>
          <p:cNvSpPr txBox="1"/>
          <p:nvPr/>
        </p:nvSpPr>
        <p:spPr>
          <a:xfrm>
            <a:off x="6419088" y="5285232"/>
            <a:ext cx="4974336" cy="3816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Freelancer routes protect owned records; /portal routes limit client data by authenticated email.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754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Technology Stack &amp; Security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60120" cy="5029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7632" y="722376"/>
            <a:ext cx="987552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technologies and the business constraints they enforce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70432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174650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1316736"/>
            <a:ext cx="5001768" cy="29149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5001768" cy="125098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3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18, </a:t>
            </a:r>
            <a:r>
              <a:rPr sz="123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sz="123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6, React Router, </a:t>
            </a:r>
            <a:r>
              <a:rPr sz="123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sz="123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Backend: Python 3.12+, Flask 3.1, Flask-</a:t>
            </a:r>
            <a:r>
              <a:rPr sz="123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Cors</a:t>
            </a:r>
            <a:r>
              <a:rPr sz="123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Flask-JWT-Extended
Database: MongoDB 7, </a:t>
            </a:r>
            <a:r>
              <a:rPr sz="123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PyMongo</a:t>
            </a:r>
            <a:r>
              <a:rPr sz="123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Configuration: python-</a:t>
            </a:r>
            <a:r>
              <a:rPr sz="123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sz="123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environment variables
Runtime: Docker Desktop / Docker Compose, or MongoDB + </a:t>
            </a:r>
            <a:r>
              <a:rPr sz="123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sz="123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Node.js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70432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64008" cy="1746504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316736"/>
            <a:ext cx="5001768" cy="29149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00784"/>
            <a:ext cx="5001768" cy="137903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1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Passwords use salted PBKDF2-SHA256 hashes; hashes are never returned in API responses.
• Access tokens expire after 20 minutes; refresh tokens after 14 days.
• Refresh rotation invalidates the previous refresh token; logout blocklists tokens.
• CORS is restricted to FRONTEND_ORIGIN.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74720"/>
            <a:ext cx="10789920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AND PRODUCTION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58768"/>
            <a:ext cx="10698480" cy="105798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320">
                <a:solidFill>
                  <a:srgbClr val="2A2D41"/>
                </a:solidFill>
                <a:latin typeface="Aptos"/>
              </a:defRPr>
            </a:pP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320" b="1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Invoice integrity: </a:t>
            </a: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totals are calculated server-side; billed time cannot be edited; overpayments are rejected.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320">
                <a:solidFill>
                  <a:srgbClr val="2A2D41"/>
                </a:solidFill>
                <a:latin typeface="Aptos"/>
              </a:defRPr>
            </a:pP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320" b="1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visibility: </a:t>
            </a: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invoices are hidden until sent; invoice edits lock after the first payment.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320">
                <a:solidFill>
                  <a:srgbClr val="2A2D41"/>
                </a:solidFill>
                <a:latin typeface="Aptos"/>
              </a:defRPr>
            </a:pP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320" b="1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Project-code safety: </a:t>
            </a: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one-time codes are shown only at creation/regeneration; only hashes are persisted and each code can be claimed once.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320">
                <a:solidFill>
                  <a:srgbClr val="2A2D41"/>
                </a:solidFill>
                <a:latin typeface="Aptos"/>
              </a:defRPr>
            </a:pP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320" b="1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readiness: </a:t>
            </a:r>
            <a:r>
              <a:rPr sz="132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a strong unique JWT secret, HTTPS, and a specific browser origin.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064240" cy="4754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Delivery, Testing &amp; Acceptance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32104"/>
            <a:ext cx="960120" cy="50292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7632" y="722376"/>
            <a:ext cx="987552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team verifies that the application works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64008" cy="1197864"/>
          </a:xfrm>
          <a:prstGeom prst="rect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7" y="1335024"/>
            <a:ext cx="500176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8008"/>
            <a:ext cx="5001768" cy="866840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 route: configure environment values and run `docker compose up --build`.
Web: localhost:5173</a:t>
            </a:r>
            <a:r>
              <a:rPr lang="en-US" sz="110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Non-container route: sync backend with </a:t>
            </a:r>
            <a:r>
              <a:rPr sz="110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uv</a:t>
            </a:r>
            <a:r>
              <a:rPr sz="110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start Flask, then run </a:t>
            </a:r>
            <a:r>
              <a:rPr sz="110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sz="110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install and </a:t>
            </a:r>
            <a:r>
              <a:rPr sz="110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sz="110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run dev.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298448"/>
            <a:ext cx="64008" cy="1197864"/>
          </a:xfrm>
          <a:prstGeom prst="rect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335024"/>
            <a:ext cx="5001768" cy="28398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19072"/>
            <a:ext cx="5001768" cy="835037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Build frontend with </a:t>
            </a:r>
            <a:r>
              <a:rPr sz="1050" b="0" i="0" dirty="0" err="1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sz="1050" b="0" i="0" dirty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JSX/imports/assets.
• Run tests/smoke_routes.py for routes, roles, billing, locking, refresh rotation, reviews, code claims, and access.
• Use the supplied Postman collection for payloads, status codes, and browser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07792"/>
            <a:ext cx="10789920" cy="276422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57C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ACCEPTANCE CRITERIA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73552"/>
            <a:ext cx="1083564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346704"/>
            <a:ext cx="1920240" cy="2468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28416"/>
            <a:ext cx="854964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calls return 401; wrong roles return 403; users see only their permitted records.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85616"/>
            <a:ext cx="10835640" cy="420624"/>
          </a:xfrm>
          <a:prstGeom prst="roundRect">
            <a:avLst/>
          </a:prstGeom>
          <a:solidFill>
            <a:srgbClr val="EFEBFF"/>
          </a:solidFill>
          <a:ln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3858768"/>
            <a:ext cx="1920240" cy="2468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Billing correctness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40480"/>
            <a:ext cx="854964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Server-calculated totals and partial-payment balances remain correct; paid/billed records are protected.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1083564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70832"/>
            <a:ext cx="1920240" cy="2468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lifecycle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52544"/>
            <a:ext cx="854964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submitted work can be approved or sent back for revision; review and payment states remain independent.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09744"/>
            <a:ext cx="10835640" cy="420624"/>
          </a:xfrm>
          <a:prstGeom prst="roundRect">
            <a:avLst/>
          </a:prstGeom>
          <a:solidFill>
            <a:srgbClr val="EFEBFF"/>
          </a:solidFill>
          <a:ln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4882896"/>
            <a:ext cx="1920240" cy="2468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Project-code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64607"/>
            <a:ext cx="854964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code claim creates or reuses the intended relationship and cannot be repeated.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21808"/>
            <a:ext cx="10835640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DE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2004" rIns="64008" bIns="3200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2960" y="5394960"/>
            <a:ext cx="1920240" cy="246888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76672"/>
            <a:ext cx="8549640" cy="223459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2A2D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balances, role-appropriate actions, success/error states, and links between lists and detail pages.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989320"/>
            <a:ext cx="10789920" cy="268856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135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350" b="1" i="0" dirty="0">
                <a:solidFill>
                  <a:srgbClr val="191B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elivery is governed by review states, billing by invoice states, and visibility by role and ownership checks.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840" y="6510528"/>
            <a:ext cx="411480" cy="215893"/>
          </a:xfrm>
          <a:prstGeom prst="rect">
            <a:avLst/>
          </a:prstGeom>
          <a:noFill/>
        </p:spPr>
        <p:txBody>
          <a:bodyPr wrap="square" lIns="64008" tIns="32004" rIns="64008" bIns="32004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4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320040"/>
            <a:ext cx="2743200" cy="2743200"/>
          </a:xfrm>
          <a:prstGeom prst="ellipse">
            <a:avLst/>
          </a:prstGeom>
          <a:solidFill>
            <a:srgbClr val="705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3383280"/>
            <a:ext cx="1920240" cy="1920240"/>
          </a:xfrm>
          <a:prstGeom prst="ellipse">
            <a:avLst/>
          </a:prstGeom>
          <a:solidFill>
            <a:srgbClr val="30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4846320"/>
            <a:ext cx="1051560" cy="1051560"/>
          </a:xfrm>
          <a:prstGeom prst="ellipse">
            <a:avLst/>
          </a:prstGeom>
          <a:solidFill>
            <a:srgbClr val="E2A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685800"/>
            <a:ext cx="1417320" cy="384048"/>
          </a:xfrm>
          <a:prstGeom prst="roundRect">
            <a:avLst/>
          </a:prstGeom>
          <a:solidFill>
            <a:srgbClr val="383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711715"/>
            <a:ext cx="1280160" cy="3139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1869"/>
            <a:ext cx="7040880" cy="151426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1381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Rao</cp:lastModifiedBy>
  <cp:revision>11</cp:revision>
  <dcterms:created xsi:type="dcterms:W3CDTF">2013-01-27T09:14:16Z</dcterms:created>
  <dcterms:modified xsi:type="dcterms:W3CDTF">2026-10-26T16:51:56Z</dcterms:modified>
  <cp:category/>
</cp:coreProperties>
</file>