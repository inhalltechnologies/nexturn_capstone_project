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18120" y="594360"/>
            <a:ext cx="4023360" cy="4023360"/>
          </a:xfrm>
          <a:prstGeom prst="ellipse">
            <a:avLst/>
          </a:prstGeom>
          <a:solidFill>
            <a:srgbClr val="132445"/>
          </a:solidFill>
          <a:ln>
            <a:solidFill>
              <a:srgbClr val="13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280160"/>
            <a:ext cx="2651760" cy="2651760"/>
          </a:xfrm>
          <a:prstGeom prst="ellipse">
            <a:avLst/>
          </a:prstGeom>
          <a:solidFill>
            <a:srgbClr val="18305A"/>
          </a:solidFill>
          <a:ln>
            <a:solidFill>
              <a:srgbClr val="18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1920240"/>
            <a:ext cx="1371600" cy="1371600"/>
          </a:xfrm>
          <a:prstGeom prst="ellipse">
            <a:avLst/>
          </a:prstGeom>
          <a:solidFill>
            <a:srgbClr val="21437B"/>
          </a:solidFill>
          <a:ln>
            <a:solidFill>
              <a:srgbClr val="2143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 2026-10-15 184901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89" y="320040"/>
            <a:ext cx="2217045" cy="777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235440" y="384048"/>
            <a:ext cx="548640" cy="548640"/>
          </a:xfrm>
          <a:prstGeom prst="roundRect">
            <a:avLst/>
          </a:prstGeom>
          <a:solidFill>
            <a:srgbClr val="2A63F5"/>
          </a:solidFill>
          <a:ln>
            <a:solidFill>
              <a:srgbClr val="2A6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0" y="384048"/>
            <a:ext cx="548640" cy="54864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384048"/>
            <a:ext cx="1691640" cy="320040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Rent</a:t>
            </a:r>
            <a:r>
              <a:rPr sz="2000" b="1">
                <a:solidFill>
                  <a:srgbClr val="73AAFF"/>
                </a:solidFill>
                <a:latin typeface="Aptos"/>
              </a:rPr>
              <a:t>Ease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3808" y="713232"/>
            <a:ext cx="1554480" cy="18288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BECDE5"/>
                </a:solidFill>
                <a:latin typeface="Aptos"/>
              </a:rPr>
              <a:t>PROPERTY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417320"/>
            <a:ext cx="1645920" cy="347472"/>
          </a:xfrm>
          <a:prstGeom prst="roundRect">
            <a:avLst/>
          </a:prstGeom>
          <a:solidFill>
            <a:srgbClr val="1A3158"/>
          </a:solidFill>
          <a:ln>
            <a:solidFill>
              <a:srgbClr val="1A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417320"/>
            <a:ext cx="1536192" cy="347472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73AAFF"/>
                </a:solidFill>
                <a:latin typeface="Aptos"/>
              </a:rPr>
              <a:t>CAPSTONE  •  GROUP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938528"/>
            <a:ext cx="7772400" cy="566928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Property Rental &amp;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87168"/>
            <a:ext cx="7955279" cy="64008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73AAFF"/>
                </a:solidFill>
                <a:latin typeface="Aptos"/>
              </a:rPr>
              <a:t>Listing Portal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218688"/>
            <a:ext cx="7680960" cy="438912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EDBEF"/>
                </a:solidFill>
                <a:latin typeface="Aptos"/>
              </a:rPr>
              <a:t>A Full-Stack Web Application for Property Rentals and Listings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813048"/>
            <a:ext cx="548640" cy="45720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050791"/>
            <a:ext cx="5166360" cy="219456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5BEE1"/>
                </a:solidFill>
                <a:latin typeface="Aptos"/>
              </a:rPr>
              <a:t>PRESENTED 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325112"/>
            <a:ext cx="5394960" cy="612648"/>
          </a:xfrm>
          <a:prstGeom prst="rect">
            <a:avLst/>
          </a:prstGeom>
          <a:noFill/>
        </p:spPr>
        <p:txBody>
          <a:bodyPr wrap="square" lIns="45720" rIns="45720" tIns="13716" bIns="1371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N. Dharma  •  L. Siddartha
P. Dhanush  •  R. Prasanth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00600"/>
            <a:ext cx="1828800" cy="201168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A5BEE1"/>
                </a:solidFill>
                <a:latin typeface="Aptos"/>
              </a:rPr>
              <a:t>ORGANIZATION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47488"/>
            <a:ext cx="2377440" cy="27432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NexTurn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108192"/>
            <a:ext cx="10698480" cy="10972"/>
          </a:xfrm>
          <a:prstGeom prst="rect">
            <a:avLst/>
          </a:prstGeom>
          <a:solidFill>
            <a:srgbClr val="2D3E5B"/>
          </a:solidFill>
          <a:ln>
            <a:solidFill>
              <a:srgbClr val="2D3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6245352"/>
            <a:ext cx="4572000" cy="18288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6BDDC"/>
                </a:solidFill>
                <a:latin typeface="Aptos"/>
              </a:rPr>
              <a:t>NEXTERN 2026  |  PROPERTY RENTAL &amp; LISTING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245352"/>
            <a:ext cx="548640" cy="18288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A6BDDC"/>
                </a:solidFill>
                <a:latin typeface="Aptos"/>
              </a:rPr>
              <a:t>01/07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15968"/>
            <a:ext cx="48006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9AB8E0"/>
                </a:solidFill>
                <a:latin typeface="Aptos"/>
              </a:rPr>
              <a:t>UNDER THE GUIDANCE OF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Aptos Display"/>
              </a:rPr>
              <a:t>Rishabh Verma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87552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670B7"/>
                </a:solidFill>
                <a:latin typeface="Arial"/>
              </a:rPr>
              <a:t>02 /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B466C"/>
                </a:solidFill>
                <a:latin typeface="Arial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9848"/>
            <a:ext cx="502920" cy="36576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A77"/>
                </a:solidFill>
                <a:latin typeface="Arial"/>
              </a:rPr>
              <a:t>02/07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98448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03C"/>
                </a:solidFill>
                <a:latin typeface="Arial"/>
              </a:rPr>
              <a:t>Finding a rental home and managing property details can take time. RentEase brings these tasks into one website.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130552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100584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03C"/>
                </a:solidFill>
                <a:latin typeface="Arial"/>
              </a:rPr>
              <a:t>People need to search for homes by city, area, rent and property type.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724912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87752"/>
            <a:ext cx="100584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03C"/>
                </a:solidFill>
                <a:latin typeface="Arial"/>
              </a:rPr>
              <a:t>Owners need to add properties and upload photos.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19272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82112"/>
            <a:ext cx="100584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03C"/>
                </a:solidFill>
                <a:latin typeface="Arial"/>
              </a:rPr>
              <a:t>People need to ask owners questions and request property visits.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913632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76472"/>
            <a:ext cx="100584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03C"/>
                </a:solidFill>
                <a:latin typeface="Arial"/>
              </a:rPr>
              <a:t>Admins need to check listings before they appear in search.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507992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70832"/>
            <a:ext cx="100584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03C"/>
                </a:solidFill>
                <a:latin typeface="Arial"/>
              </a:rPr>
              <a:t>The website has three roles: Admin, Owner / Agent and Seeker.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272784"/>
            <a:ext cx="10972800" cy="10972"/>
          </a:xfrm>
          <a:prstGeom prst="rect">
            <a:avLst/>
          </a:prstGeom>
          <a:solidFill>
            <a:srgbClr val="DCE2E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6355080"/>
            <a:ext cx="457200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NEXTERN 2026  •  GROUP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5508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02/07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001" y="201168"/>
            <a:ext cx="1121564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87552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670B7"/>
                </a:solidFill>
                <a:latin typeface="Arial"/>
              </a:rPr>
              <a:t>03 /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B466C"/>
                </a:solidFill>
                <a:latin typeface="Arial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9848"/>
            <a:ext cx="502920" cy="36576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A77"/>
                </a:solidFill>
                <a:latin typeface="Arial"/>
              </a:rPr>
              <a:t>03/07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18488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1024128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03C"/>
                </a:solidFill>
                <a:latin typeface="Arial"/>
              </a:rPr>
              <a:t>Keep rental property details in one place.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258568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21408"/>
            <a:ext cx="1024128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03C"/>
                </a:solidFill>
                <a:latin typeface="Arial"/>
              </a:rPr>
              <a:t>Help people find properties using search filters.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898648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761488"/>
            <a:ext cx="1024128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03C"/>
                </a:solidFill>
                <a:latin typeface="Arial"/>
              </a:rPr>
              <a:t>Let owners add and update property details and photos.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38727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401568"/>
            <a:ext cx="1024128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03C"/>
                </a:solidFill>
                <a:latin typeface="Arial"/>
              </a:rPr>
              <a:t>Let seekers save properties and searches.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178808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41648"/>
            <a:ext cx="1024128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03C"/>
                </a:solidFill>
                <a:latin typeface="Arial"/>
              </a:rPr>
              <a:t>Let seekers send enquiries and request visits.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818888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81728"/>
            <a:ext cx="1024128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6303C"/>
                </a:solidFill>
                <a:latin typeface="Arial"/>
              </a:rPr>
              <a:t>Let admins approve or reject property listings.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6272784"/>
            <a:ext cx="10972800" cy="10972"/>
          </a:xfrm>
          <a:prstGeom prst="rect">
            <a:avLst/>
          </a:prstGeom>
          <a:solidFill>
            <a:srgbClr val="DCE2E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6355080"/>
            <a:ext cx="457200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NEXTERN 2026  •  GROUP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03/07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001" y="201168"/>
            <a:ext cx="1121564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87552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670B7"/>
                </a:solidFill>
                <a:latin typeface="Arial"/>
              </a:rPr>
              <a:t>04 /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B466C"/>
                </a:solidFill>
                <a:latin typeface="Arial"/>
              </a:rPr>
              <a:t>Technology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9848"/>
            <a:ext cx="502920" cy="36576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A77"/>
                </a:solidFill>
                <a:latin typeface="Arial"/>
              </a:rPr>
              <a:t>04/07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4564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01368"/>
            <a:ext cx="3127248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466C"/>
                </a:solidFill>
                <a:latin typeface="Arial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12264"/>
            <a:ext cx="3127248" cy="603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A77"/>
                </a:solidFill>
                <a:latin typeface="Arial"/>
              </a:rPr>
              <a:t>React + Vite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7" y="1691640"/>
            <a:ext cx="34564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801368"/>
            <a:ext cx="3127248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466C"/>
                </a:solidFill>
                <a:latin typeface="Arial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112264"/>
            <a:ext cx="3127248" cy="603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A77"/>
                </a:solidFill>
                <a:latin typeface="Arial"/>
              </a:rPr>
              <a:t>Python Flask 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691640"/>
            <a:ext cx="34564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01368"/>
            <a:ext cx="3127248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466C"/>
                </a:solidFill>
                <a:latin typeface="Arial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12264"/>
            <a:ext cx="3127248" cy="603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A77"/>
                </a:solidFill>
                <a:latin typeface="Arial"/>
              </a:rP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200400"/>
            <a:ext cx="34564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310128"/>
            <a:ext cx="3127248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466C"/>
                </a:solidFill>
                <a:latin typeface="Arial"/>
              </a:rPr>
              <a:t>Database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621024"/>
            <a:ext cx="3127248" cy="603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A77"/>
                </a:solidFill>
                <a:latin typeface="Arial"/>
              </a:rPr>
              <a:t>SQLAlchemy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7" y="3200400"/>
            <a:ext cx="34564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3310128"/>
            <a:ext cx="3127248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466C"/>
                </a:solidFill>
                <a:latin typeface="Arial"/>
              </a:rPr>
              <a:t>Login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3621024"/>
            <a:ext cx="3127248" cy="603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A77"/>
                </a:solidFill>
                <a:latin typeface="Arial"/>
              </a:rPr>
              <a:t>JWT access and refresh tokens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3200400"/>
            <a:ext cx="3456432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310128"/>
            <a:ext cx="3127248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B466C"/>
                </a:solidFill>
                <a:latin typeface="Arial"/>
              </a:rPr>
              <a:t>Run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621024"/>
            <a:ext cx="3127248" cy="603503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F6A77"/>
                </a:solidFill>
                <a:latin typeface="Arial"/>
              </a:rPr>
              <a:t>Docker Compose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272784"/>
            <a:ext cx="10972800" cy="10972"/>
          </a:xfrm>
          <a:prstGeom prst="rect">
            <a:avLst/>
          </a:prstGeom>
          <a:solidFill>
            <a:srgbClr val="DCE2E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355080"/>
            <a:ext cx="457200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NEXTERN 2026  •  GROUP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35508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04/07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001" y="201168"/>
            <a:ext cx="1121564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987552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670B7"/>
                </a:solidFill>
                <a:latin typeface="Arial"/>
              </a:rPr>
              <a:t>05 /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B466C"/>
                </a:solidFill>
                <a:latin typeface="Arial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69848"/>
            <a:ext cx="502920" cy="36576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F6A77"/>
                </a:solidFill>
                <a:latin typeface="Arial"/>
              </a:rPr>
              <a:t>05/07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20240"/>
            <a:ext cx="1828800" cy="987552"/>
          </a:xfrm>
          <a:prstGeom prst="roundRect">
            <a:avLst/>
          </a:prstGeom>
          <a:solidFill>
            <a:srgbClr val="1B466C"/>
          </a:solidFill>
          <a:ln>
            <a:solidFill>
              <a:srgbClr val="1B4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2039112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377440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Arial"/>
              </a:rPr>
              <a:t>Admin / Owner / Seeker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920240"/>
            <a:ext cx="1828800" cy="987552"/>
          </a:xfrm>
          <a:prstGeom prst="roundRect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2039112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377440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Arial"/>
              </a:rPr>
              <a:t>React + Vite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920240"/>
            <a:ext cx="1828800" cy="987552"/>
          </a:xfrm>
          <a:prstGeom prst="roundRect">
            <a:avLst/>
          </a:prstGeom>
          <a:solidFill>
            <a:srgbClr val="1B466C"/>
          </a:solidFill>
          <a:ln>
            <a:solidFill>
              <a:srgbClr val="1B4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9512" y="2039112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9512" y="2377440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Arial"/>
              </a:rPr>
              <a:t>Flask REST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1920240"/>
            <a:ext cx="1828800" cy="987552"/>
          </a:xfrm>
          <a:prstGeom prst="roundRect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039112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SQLAlchemy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377440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Arial"/>
              </a:rPr>
              <a:t>Connects app to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74352" y="1920240"/>
            <a:ext cx="1828800" cy="987552"/>
          </a:xfrm>
          <a:prstGeom prst="roundRect">
            <a:avLst/>
          </a:prstGeom>
          <a:solidFill>
            <a:srgbClr val="1B466C"/>
          </a:solidFill>
          <a:ln>
            <a:solidFill>
              <a:srgbClr val="1B46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47504" y="2039112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2377440"/>
            <a:ext cx="1682496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87168" y="2414016"/>
            <a:ext cx="411480" cy="0"/>
          </a:xfrm>
          <a:prstGeom prst="line">
            <a:avLst/>
          </a:prstGeom>
          <a:ln w="25400">
            <a:solidFill>
              <a:srgbClr val="26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36592" y="2414016"/>
            <a:ext cx="411480" cy="0"/>
          </a:xfrm>
          <a:prstGeom prst="line">
            <a:avLst/>
          </a:prstGeom>
          <a:ln w="25400">
            <a:solidFill>
              <a:srgbClr val="26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995160" y="2414016"/>
            <a:ext cx="411480" cy="0"/>
          </a:xfrm>
          <a:prstGeom prst="line">
            <a:avLst/>
          </a:prstGeom>
          <a:ln w="25400">
            <a:solidFill>
              <a:srgbClr val="26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53728" y="2414016"/>
            <a:ext cx="411479" cy="0"/>
          </a:xfrm>
          <a:prstGeom prst="line">
            <a:avLst/>
          </a:prstGeom>
          <a:ln w="25400">
            <a:solidFill>
              <a:srgbClr val="2670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14400" y="3657600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3520440"/>
            <a:ext cx="996696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303C"/>
                </a:solidFill>
                <a:latin typeface="Arial"/>
              </a:rPr>
              <a:t>JWT is used for login and access to the website.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206240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069080"/>
            <a:ext cx="996696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303C"/>
                </a:solidFill>
                <a:latin typeface="Arial"/>
              </a:rPr>
              <a:t>Docker Compose runs the web app, API and database services.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754880"/>
            <a:ext cx="73152" cy="73152"/>
          </a:xfrm>
          <a:prstGeom prst="ellipse">
            <a:avLst/>
          </a:prstGeom>
          <a:solidFill>
            <a:srgbClr val="2670B7"/>
          </a:solidFill>
          <a:ln>
            <a:solidFill>
              <a:srgbClr val="267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617720"/>
            <a:ext cx="996696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6303C"/>
                </a:solidFill>
                <a:latin typeface="Arial"/>
              </a:rPr>
              <a:t>Only verified listings appear in public search; rejected and rented listings are hidden.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272784"/>
            <a:ext cx="10972800" cy="10972"/>
          </a:xfrm>
          <a:prstGeom prst="rect">
            <a:avLst/>
          </a:prstGeom>
          <a:solidFill>
            <a:srgbClr val="DCE2E9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355080"/>
            <a:ext cx="457200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NEXTERN 2026  •  GROUP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5508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5F6A77"/>
                </a:solidFill>
                <a:latin typeface="Arial"/>
              </a:rPr>
              <a:t>05/07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4001" y="201168"/>
            <a:ext cx="1121564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66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 descr="WhatsApp Image 2026-10-26 at 12.02.5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7" y="1789745"/>
            <a:ext cx="6729984" cy="35162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256032"/>
            <a:ext cx="9875520" cy="20116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3AAFF"/>
                </a:solidFill>
                <a:latin typeface="Arial"/>
              </a:rPr>
              <a:t>06 /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02920"/>
            <a:ext cx="107899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rial"/>
              </a:rPr>
              <a:t>RentEase Homepage and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069848"/>
            <a:ext cx="502920" cy="36576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0" y="6473952"/>
            <a:ext cx="64008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B4C6E1"/>
                </a:solidFill>
                <a:latin typeface="Arial"/>
              </a:rPr>
              <a:t>06/07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3716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Main Features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0" y="1892807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755648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Add and manage property listings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2368296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2231136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Upload property photos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2843784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2706624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Search, sort and filter properties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0" y="3319272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79" y="3182112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Save favourite properties and searches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0" y="3794760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3657600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Send enquiries and messages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0" y="4270248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79" y="4133087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Request property visits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0" y="4745736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4608576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Admin checks property listings</a:t>
            </a:r>
          </a:p>
        </p:txBody>
      </p:sp>
      <p:sp>
        <p:nvSpPr>
          <p:cNvPr id="27" name="Oval 26"/>
          <p:cNvSpPr/>
          <p:nvPr/>
        </p:nvSpPr>
        <p:spPr>
          <a:xfrm>
            <a:off x="7772400" y="5221224"/>
            <a:ext cx="73152" cy="73152"/>
          </a:xfrm>
          <a:prstGeom prst="ellipse">
            <a:avLst/>
          </a:prstGeom>
          <a:solidFill>
            <a:srgbClr val="73AAFF"/>
          </a:solidFill>
          <a:ln>
            <a:solidFill>
              <a:srgbClr val="73A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5084064"/>
            <a:ext cx="3657600" cy="3931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Arial"/>
              </a:rPr>
              <a:t>Owner can view listing activity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272784"/>
            <a:ext cx="10972800" cy="10972"/>
          </a:xfrm>
          <a:prstGeom prst="rect">
            <a:avLst/>
          </a:prstGeom>
          <a:solidFill>
            <a:srgbClr val="334460"/>
          </a:solidFill>
          <a:ln>
            <a:solidFill>
              <a:srgbClr val="33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355080"/>
            <a:ext cx="457200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A9BCDA"/>
                </a:solidFill>
                <a:latin typeface="Arial"/>
              </a:rPr>
              <a:t>NEXTERN 2026  •  GROUP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55080"/>
            <a:ext cx="594360" cy="1828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A9BCDA"/>
                </a:solidFill>
                <a:latin typeface="Arial"/>
              </a:rPr>
              <a:t>06/07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001" y="201168"/>
            <a:ext cx="1121564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77639" y="914400"/>
            <a:ext cx="4206240" cy="4206240"/>
          </a:xfrm>
          <a:prstGeom prst="ellipse">
            <a:avLst/>
          </a:prstGeom>
          <a:solidFill>
            <a:srgbClr val="132445"/>
          </a:solidFill>
          <a:ln>
            <a:solidFill>
              <a:srgbClr val="132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709160" y="1645920"/>
            <a:ext cx="2743200" cy="2743200"/>
          </a:xfrm>
          <a:prstGeom prst="ellipse">
            <a:avLst/>
          </a:prstGeom>
          <a:solidFill>
            <a:srgbClr val="18305A"/>
          </a:solidFill>
          <a:ln>
            <a:solidFill>
              <a:srgbClr val="18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10-15 184901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47" y="411480"/>
            <a:ext cx="1825801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601200" y="457200"/>
            <a:ext cx="502920" cy="502920"/>
          </a:xfrm>
          <a:prstGeom prst="roundRect">
            <a:avLst/>
          </a:prstGeom>
          <a:solidFill>
            <a:srgbClr val="2A63F5"/>
          </a:solidFill>
          <a:ln>
            <a:solidFill>
              <a:srgbClr val="2A6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457200"/>
            <a:ext cx="502920" cy="50292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Aptos"/>
              </a:rPr>
              <a:t>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7272" y="457200"/>
            <a:ext cx="1463040" cy="292608"/>
          </a:xfrm>
          <a:prstGeom prst="rect">
            <a:avLst/>
          </a:prstGeom>
          <a:noFill/>
        </p:spPr>
        <p:txBody>
          <a:bodyPr wrap="square" lIns="18288" r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Rent</a:t>
            </a:r>
            <a:r>
              <a:rPr sz="1700" b="1">
                <a:solidFill>
                  <a:srgbClr val="73AAFF"/>
                </a:solidFill>
                <a:latin typeface="Aptos"/>
              </a:rPr>
              <a:t>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2331720"/>
            <a:ext cx="914400" cy="64008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7B82E"/>
                </a:solidFill>
                <a:latin typeface="Aptos"/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063240"/>
            <a:ext cx="8412480" cy="77724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4041648"/>
            <a:ext cx="914400" cy="45720"/>
          </a:xfrm>
          <a:prstGeom prst="rect">
            <a:avLst/>
          </a:prstGeom>
          <a:solidFill>
            <a:srgbClr val="C3303A"/>
          </a:solidFill>
          <a:ln>
            <a:solidFill>
              <a:srgbClr val="C33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4325112"/>
            <a:ext cx="4572000" cy="27432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0C7E6"/>
                </a:solidFill>
                <a:latin typeface="Aptos"/>
              </a:rPr>
              <a:t>PROPERTY RENTAL &amp; LISTING PORTAL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272784"/>
            <a:ext cx="10972800" cy="10972"/>
          </a:xfrm>
          <a:prstGeom prst="rect">
            <a:avLst/>
          </a:prstGeom>
          <a:solidFill>
            <a:srgbClr val="334460"/>
          </a:solidFill>
          <a:ln>
            <a:solidFill>
              <a:srgbClr val="3344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355080"/>
            <a:ext cx="4572000" cy="18288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A9BCDA"/>
                </a:solidFill>
                <a:latin typeface="Aptos"/>
              </a:rPr>
              <a:t>NEXTERN 2026  •  GROUP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55080"/>
            <a:ext cx="594360" cy="182880"/>
          </a:xfrm>
          <a:prstGeom prst="rect">
            <a:avLst/>
          </a:prstGeom>
          <a:noFill/>
        </p:spPr>
        <p:txBody>
          <a:bodyPr wrap="square" lIns="45720" rIns="45720" tIns="13716" bIns="1371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A9BCDA"/>
                </a:solidFill>
                <a:latin typeface="Aptos"/>
              </a:rPr>
              <a:t>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RentEase — Property Rental &amp; Listing Portal</dc:title>
  <dc:subject>NexTurn Group 8 Capstone Project</dc:subject>
  <dc:creator>Group 8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